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Funtastic" charset="1" panose="00000000000000000000"/>
      <p:regular r:id="rId17"/>
    </p:embeddedFont>
    <p:embeddedFont>
      <p:font typeface="Sukar" charset="1" panose="02000500000000000000"/>
      <p:regular r:id="rId18"/>
    </p:embeddedFont>
    <p:embeddedFont>
      <p:font typeface="Sukar Bold" charset="1" panose="02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17.png" Type="http://schemas.openxmlformats.org/officeDocument/2006/relationships/image"/><Relationship Id="rId9" Target="../media/image1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5.png" Type="http://schemas.openxmlformats.org/officeDocument/2006/relationships/image"/><Relationship Id="rId11" Target="../media/image6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Relationship Id="rId8" Target="../media/image21.png" Type="http://schemas.openxmlformats.org/officeDocument/2006/relationships/image"/><Relationship Id="rId9" Target="../embeddings/oleObject1.bin" Type="http://schemas.openxmlformats.org/officeDocument/2006/relationships/oleObjec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3.png" Type="http://schemas.openxmlformats.org/officeDocument/2006/relationships/image"/><Relationship Id="rId3" Target="../media/image14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23.pn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sv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24.jpeg" Type="http://schemas.openxmlformats.org/officeDocument/2006/relationships/image"/><Relationship Id="rId7" Target="../media/VAHM-U2G4ek.mp4" Type="http://schemas.openxmlformats.org/officeDocument/2006/relationships/video"/><Relationship Id="rId8" Target="../media/VAHM-U2G4ek.mp4" Type="http://schemas.microsoft.com/office/2007/relationships/media"/><Relationship Id="rId9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25.png" Type="http://schemas.openxmlformats.org/officeDocument/2006/relationships/image"/><Relationship Id="rId5" Target="../media/image26.svg" Type="http://schemas.openxmlformats.org/officeDocument/2006/relationships/image"/><Relationship Id="rId6" Target="../media/image13.png" Type="http://schemas.openxmlformats.org/officeDocument/2006/relationships/image"/><Relationship Id="rId7" Target="../media/image14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Relationship Id="rId6" Target="../media/image27.png" Type="http://schemas.openxmlformats.org/officeDocument/2006/relationships/image"/><Relationship Id="rId7" Target="../media/image2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9.png" Type="http://schemas.openxmlformats.org/officeDocument/2006/relationships/image"/><Relationship Id="rId3" Target="../media/image30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Relationship Id="rId6" Target="../media/image31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607827" y="2859348"/>
            <a:ext cx="13026676" cy="433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91"/>
              </a:lnSpc>
            </a:pPr>
            <a:r>
              <a:rPr lang="en-US" sz="11199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DATASET “GOOGLE PLAY STORE APPS”</a:t>
            </a:r>
          </a:p>
          <a:p>
            <a:pPr algn="ctr">
              <a:lnSpc>
                <a:spcPts val="12543"/>
              </a:lnSpc>
            </a:pPr>
            <a:r>
              <a:rPr lang="en-US" sz="11199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EVALUACIÓN 3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2051556">
            <a:off x="-1619647" y="6810969"/>
            <a:ext cx="4537130" cy="5260440"/>
          </a:xfrm>
          <a:custGeom>
            <a:avLst/>
            <a:gdLst/>
            <a:ahLst/>
            <a:cxnLst/>
            <a:rect r="r" b="b" t="t" l="l"/>
            <a:pathLst>
              <a:path h="5260440" w="4537130">
                <a:moveTo>
                  <a:pt x="0" y="0"/>
                </a:moveTo>
                <a:lnTo>
                  <a:pt x="4537130" y="0"/>
                </a:lnTo>
                <a:lnTo>
                  <a:pt x="4537130" y="5260440"/>
                </a:lnTo>
                <a:lnTo>
                  <a:pt x="0" y="526044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479565">
            <a:off x="15478678" y="-1617387"/>
            <a:ext cx="4631200" cy="6144213"/>
          </a:xfrm>
          <a:custGeom>
            <a:avLst/>
            <a:gdLst/>
            <a:ahLst/>
            <a:cxnLst/>
            <a:rect r="r" b="b" t="t" l="l"/>
            <a:pathLst>
              <a:path h="6144213" w="4631200">
                <a:moveTo>
                  <a:pt x="0" y="0"/>
                </a:moveTo>
                <a:lnTo>
                  <a:pt x="4631200" y="0"/>
                </a:lnTo>
                <a:lnTo>
                  <a:pt x="4631200" y="6144213"/>
                </a:lnTo>
                <a:lnTo>
                  <a:pt x="0" y="61442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418075">
            <a:off x="4737" y="-1807531"/>
            <a:ext cx="3339098" cy="5049675"/>
          </a:xfrm>
          <a:custGeom>
            <a:avLst/>
            <a:gdLst/>
            <a:ahLst/>
            <a:cxnLst/>
            <a:rect r="r" b="b" t="t" l="l"/>
            <a:pathLst>
              <a:path h="5049675" w="3339098">
                <a:moveTo>
                  <a:pt x="0" y="0"/>
                </a:moveTo>
                <a:lnTo>
                  <a:pt x="3339098" y="0"/>
                </a:lnTo>
                <a:lnTo>
                  <a:pt x="3339098" y="5049676"/>
                </a:lnTo>
                <a:lnTo>
                  <a:pt x="0" y="504967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929071">
            <a:off x="15139871" y="7170846"/>
            <a:ext cx="3969827" cy="4962284"/>
          </a:xfrm>
          <a:custGeom>
            <a:avLst/>
            <a:gdLst/>
            <a:ahLst/>
            <a:cxnLst/>
            <a:rect r="r" b="b" t="t" l="l"/>
            <a:pathLst>
              <a:path h="4962284" w="3969827">
                <a:moveTo>
                  <a:pt x="0" y="0"/>
                </a:moveTo>
                <a:lnTo>
                  <a:pt x="3969827" y="0"/>
                </a:lnTo>
                <a:lnTo>
                  <a:pt x="3969827" y="4962284"/>
                </a:lnTo>
                <a:lnTo>
                  <a:pt x="0" y="49622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3783878">
            <a:off x="7950077" y="1188783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526217">
            <a:off x="16064644" y="4604709"/>
            <a:ext cx="1456769" cy="1374660"/>
          </a:xfrm>
          <a:custGeom>
            <a:avLst/>
            <a:gdLst/>
            <a:ahLst/>
            <a:cxnLst/>
            <a:rect r="r" b="b" t="t" l="l"/>
            <a:pathLst>
              <a:path h="1374660" w="1456769">
                <a:moveTo>
                  <a:pt x="0" y="0"/>
                </a:moveTo>
                <a:lnTo>
                  <a:pt x="1456769" y="0"/>
                </a:lnTo>
                <a:lnTo>
                  <a:pt x="1456769" y="1374660"/>
                </a:lnTo>
                <a:lnTo>
                  <a:pt x="0" y="13746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526217">
            <a:off x="7428821" y="8940779"/>
            <a:ext cx="2246425" cy="2119809"/>
          </a:xfrm>
          <a:custGeom>
            <a:avLst/>
            <a:gdLst/>
            <a:ahLst/>
            <a:cxnLst/>
            <a:rect r="r" b="b" t="t" l="l"/>
            <a:pathLst>
              <a:path h="2119809" w="2246425">
                <a:moveTo>
                  <a:pt x="0" y="0"/>
                </a:moveTo>
                <a:lnTo>
                  <a:pt x="2246425" y="0"/>
                </a:lnTo>
                <a:lnTo>
                  <a:pt x="2246425" y="2119809"/>
                </a:lnTo>
                <a:lnTo>
                  <a:pt x="0" y="2119809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2526217">
            <a:off x="808695" y="4475822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668515" y="7555140"/>
            <a:ext cx="8950971" cy="479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2"/>
              </a:lnSpc>
            </a:pPr>
            <a:r>
              <a:rPr lang="en-US" sz="3699">
                <a:solidFill>
                  <a:srgbClr val="000000"/>
                </a:solidFill>
                <a:latin typeface="Sukar"/>
                <a:ea typeface="Sukar"/>
                <a:cs typeface="Sukar"/>
                <a:sym typeface="Sukar"/>
              </a:rPr>
              <a:t>Javiera Fuenzalida y Catalina Villegas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37549" y="8082443"/>
            <a:ext cx="9612902" cy="962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5"/>
              </a:lnSpc>
            </a:pPr>
            <a:r>
              <a:rPr lang="en-US" sz="2500">
                <a:solidFill>
                  <a:srgbClr val="000000"/>
                </a:solidFill>
                <a:latin typeface="Sukar"/>
                <a:ea typeface="Sukar"/>
                <a:cs typeface="Sukar"/>
                <a:sym typeface="Sukar"/>
              </a:rPr>
              <a:t>Profesora Karla Roco Ramírez</a:t>
            </a:r>
          </a:p>
          <a:p>
            <a:pPr algn="ctr">
              <a:lnSpc>
                <a:spcPts val="2475"/>
              </a:lnSpc>
            </a:pPr>
            <a:r>
              <a:rPr lang="en-US" sz="2500">
                <a:solidFill>
                  <a:srgbClr val="000000"/>
                </a:solidFill>
                <a:latin typeface="Sukar"/>
                <a:ea typeface="Sukar"/>
                <a:cs typeface="Sukar"/>
                <a:sym typeface="Sukar"/>
              </a:rPr>
              <a:t>Programación para la ciencia de datos</a:t>
            </a:r>
          </a:p>
          <a:p>
            <a:pPr algn="ctr">
              <a:lnSpc>
                <a:spcPts val="2475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804" y="6060532"/>
            <a:ext cx="6307872" cy="4131656"/>
          </a:xfrm>
          <a:custGeom>
            <a:avLst/>
            <a:gdLst/>
            <a:ahLst/>
            <a:cxnLst/>
            <a:rect r="r" b="b" t="t" l="l"/>
            <a:pathLst>
              <a:path h="4131656" w="6307872">
                <a:moveTo>
                  <a:pt x="0" y="0"/>
                </a:moveTo>
                <a:lnTo>
                  <a:pt x="6307873" y="0"/>
                </a:lnTo>
                <a:lnTo>
                  <a:pt x="6307873" y="4131656"/>
                </a:lnTo>
                <a:lnTo>
                  <a:pt x="0" y="4131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783878">
            <a:off x="7999096" y="-360730"/>
            <a:ext cx="1343634" cy="1267902"/>
          </a:xfrm>
          <a:custGeom>
            <a:avLst/>
            <a:gdLst/>
            <a:ahLst/>
            <a:cxnLst/>
            <a:rect r="r" b="b" t="t" l="l"/>
            <a:pathLst>
              <a:path h="1267902" w="1343634">
                <a:moveTo>
                  <a:pt x="0" y="0"/>
                </a:moveTo>
                <a:lnTo>
                  <a:pt x="1343634" y="0"/>
                </a:lnTo>
                <a:lnTo>
                  <a:pt x="1343634" y="1267902"/>
                </a:lnTo>
                <a:lnTo>
                  <a:pt x="0" y="126790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21115">
            <a:off x="4322812" y="6527347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3590648"/>
            <a:ext cx="16494531" cy="1977853"/>
            <a:chOff x="0" y="0"/>
            <a:chExt cx="21992708" cy="263713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389541" cy="2637138"/>
            </a:xfrm>
            <a:custGeom>
              <a:avLst/>
              <a:gdLst/>
              <a:ahLst/>
              <a:cxnLst/>
              <a:rect r="r" b="b" t="t" l="l"/>
              <a:pathLst>
                <a:path h="2637138" w="6389541">
                  <a:moveTo>
                    <a:pt x="0" y="0"/>
                  </a:moveTo>
                  <a:lnTo>
                    <a:pt x="6389541" y="0"/>
                  </a:lnTo>
                  <a:lnTo>
                    <a:pt x="6389541" y="2637138"/>
                  </a:lnTo>
                  <a:lnTo>
                    <a:pt x="0" y="2637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7" id="7"/>
            <p:cNvSpPr/>
            <p:nvPr/>
          </p:nvSpPr>
          <p:spPr>
            <a:xfrm flipH="false" flipV="false" rot="0">
              <a:off x="5835511" y="0"/>
              <a:ext cx="6389541" cy="2637138"/>
            </a:xfrm>
            <a:custGeom>
              <a:avLst/>
              <a:gdLst/>
              <a:ahLst/>
              <a:cxnLst/>
              <a:rect r="r" b="b" t="t" l="l"/>
              <a:pathLst>
                <a:path h="2637138" w="6389541">
                  <a:moveTo>
                    <a:pt x="0" y="0"/>
                  </a:moveTo>
                  <a:lnTo>
                    <a:pt x="6389541" y="0"/>
                  </a:lnTo>
                  <a:lnTo>
                    <a:pt x="6389541" y="2637138"/>
                  </a:lnTo>
                  <a:lnTo>
                    <a:pt x="0" y="2637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11610016" y="0"/>
              <a:ext cx="6389541" cy="2637138"/>
            </a:xfrm>
            <a:custGeom>
              <a:avLst/>
              <a:gdLst/>
              <a:ahLst/>
              <a:cxnLst/>
              <a:rect r="r" b="b" t="t" l="l"/>
              <a:pathLst>
                <a:path h="2637138" w="6389541">
                  <a:moveTo>
                    <a:pt x="0" y="0"/>
                  </a:moveTo>
                  <a:lnTo>
                    <a:pt x="6389541" y="0"/>
                  </a:lnTo>
                  <a:lnTo>
                    <a:pt x="6389541" y="2637138"/>
                  </a:lnTo>
                  <a:lnTo>
                    <a:pt x="0" y="2637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15603167" y="0"/>
              <a:ext cx="6389541" cy="2637138"/>
            </a:xfrm>
            <a:custGeom>
              <a:avLst/>
              <a:gdLst/>
              <a:ahLst/>
              <a:cxnLst/>
              <a:rect r="r" b="b" t="t" l="l"/>
              <a:pathLst>
                <a:path h="2637138" w="6389541">
                  <a:moveTo>
                    <a:pt x="0" y="0"/>
                  </a:moveTo>
                  <a:lnTo>
                    <a:pt x="6389541" y="0"/>
                  </a:lnTo>
                  <a:lnTo>
                    <a:pt x="6389541" y="2637138"/>
                  </a:lnTo>
                  <a:lnTo>
                    <a:pt x="0" y="26371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028700" y="1149804"/>
            <a:ext cx="12467054" cy="1948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sz="6999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Introducción y contextualización al dataset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4950047">
            <a:off x="-97036" y="-136010"/>
            <a:ext cx="1404298" cy="1325147"/>
          </a:xfrm>
          <a:custGeom>
            <a:avLst/>
            <a:gdLst/>
            <a:ahLst/>
            <a:cxnLst/>
            <a:rect r="r" b="b" t="t" l="l"/>
            <a:pathLst>
              <a:path h="1325147" w="1404298">
                <a:moveTo>
                  <a:pt x="0" y="0"/>
                </a:moveTo>
                <a:lnTo>
                  <a:pt x="1404298" y="0"/>
                </a:lnTo>
                <a:lnTo>
                  <a:pt x="1404298" y="1325147"/>
                </a:lnTo>
                <a:lnTo>
                  <a:pt x="0" y="13251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2526217">
            <a:off x="15886874" y="906713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5" y="0"/>
                </a:lnTo>
                <a:lnTo>
                  <a:pt x="853015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154730">
            <a:off x="13308903" y="1023269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5" y="0"/>
                </a:lnTo>
                <a:lnTo>
                  <a:pt x="853015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-1120371">
            <a:off x="16706116" y="5152076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38289" y="3839102"/>
            <a:ext cx="15921011" cy="1566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58"/>
              </a:lnSpc>
            </a:pPr>
            <a:r>
              <a:rPr lang="en-US" sz="409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Hoy explicaremos cómo identificar y predecir la calidad de las aplicaciones móviles en Google Play Store utilizando técnicas de análisis de datos y machine learning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5686302" y="6358129"/>
            <a:ext cx="4792156" cy="1977853"/>
          </a:xfrm>
          <a:custGeom>
            <a:avLst/>
            <a:gdLst/>
            <a:ahLst/>
            <a:cxnLst/>
            <a:rect r="r" b="b" t="t" l="l"/>
            <a:pathLst>
              <a:path h="1977853" w="4792156">
                <a:moveTo>
                  <a:pt x="0" y="0"/>
                </a:moveTo>
                <a:lnTo>
                  <a:pt x="4792156" y="0"/>
                </a:lnTo>
                <a:lnTo>
                  <a:pt x="4792156" y="1977853"/>
                </a:lnTo>
                <a:lnTo>
                  <a:pt x="0" y="19778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045801" y="6358129"/>
            <a:ext cx="4792156" cy="1977853"/>
          </a:xfrm>
          <a:custGeom>
            <a:avLst/>
            <a:gdLst/>
            <a:ahLst/>
            <a:cxnLst/>
            <a:rect r="r" b="b" t="t" l="l"/>
            <a:pathLst>
              <a:path h="1977853" w="4792156">
                <a:moveTo>
                  <a:pt x="0" y="0"/>
                </a:moveTo>
                <a:lnTo>
                  <a:pt x="4792156" y="0"/>
                </a:lnTo>
                <a:lnTo>
                  <a:pt x="4792156" y="1977853"/>
                </a:lnTo>
                <a:lnTo>
                  <a:pt x="0" y="19778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3040665" y="6358129"/>
            <a:ext cx="4792156" cy="1977853"/>
          </a:xfrm>
          <a:custGeom>
            <a:avLst/>
            <a:gdLst/>
            <a:ahLst/>
            <a:cxnLst/>
            <a:rect r="r" b="b" t="t" l="l"/>
            <a:pathLst>
              <a:path h="1977853" w="4792156">
                <a:moveTo>
                  <a:pt x="0" y="0"/>
                </a:moveTo>
                <a:lnTo>
                  <a:pt x="4792155" y="0"/>
                </a:lnTo>
                <a:lnTo>
                  <a:pt x="4792155" y="1977853"/>
                </a:lnTo>
                <a:lnTo>
                  <a:pt x="0" y="19778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5686302" y="7347056"/>
            <a:ext cx="4792156" cy="1977853"/>
          </a:xfrm>
          <a:custGeom>
            <a:avLst/>
            <a:gdLst/>
            <a:ahLst/>
            <a:cxnLst/>
            <a:rect r="r" b="b" t="t" l="l"/>
            <a:pathLst>
              <a:path h="1977853" w="4792156">
                <a:moveTo>
                  <a:pt x="0" y="0"/>
                </a:moveTo>
                <a:lnTo>
                  <a:pt x="4792156" y="0"/>
                </a:lnTo>
                <a:lnTo>
                  <a:pt x="4792156" y="1977853"/>
                </a:lnTo>
                <a:lnTo>
                  <a:pt x="0" y="19778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864781" y="7347056"/>
            <a:ext cx="4792156" cy="1977853"/>
          </a:xfrm>
          <a:custGeom>
            <a:avLst/>
            <a:gdLst/>
            <a:ahLst/>
            <a:cxnLst/>
            <a:rect r="r" b="b" t="t" l="l"/>
            <a:pathLst>
              <a:path h="1977853" w="4792156">
                <a:moveTo>
                  <a:pt x="0" y="0"/>
                </a:moveTo>
                <a:lnTo>
                  <a:pt x="4792156" y="0"/>
                </a:lnTo>
                <a:lnTo>
                  <a:pt x="4792156" y="1977853"/>
                </a:lnTo>
                <a:lnTo>
                  <a:pt x="0" y="19778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3040665" y="7347056"/>
            <a:ext cx="4792156" cy="1977853"/>
          </a:xfrm>
          <a:custGeom>
            <a:avLst/>
            <a:gdLst/>
            <a:ahLst/>
            <a:cxnLst/>
            <a:rect r="r" b="b" t="t" l="l"/>
            <a:pathLst>
              <a:path h="1977853" w="4792156">
                <a:moveTo>
                  <a:pt x="0" y="0"/>
                </a:moveTo>
                <a:lnTo>
                  <a:pt x="4792155" y="0"/>
                </a:lnTo>
                <a:lnTo>
                  <a:pt x="4792155" y="1977853"/>
                </a:lnTo>
                <a:lnTo>
                  <a:pt x="0" y="197785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6112570" y="6774929"/>
            <a:ext cx="11410661" cy="23084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2"/>
              </a:lnSpc>
            </a:pPr>
            <a:r>
              <a:rPr lang="en-US" sz="369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Nuestro estudio se basan en los datos obtenidos de Kaggle (el dataset de Google Play Store).</a:t>
            </a:r>
          </a:p>
          <a:p>
            <a:pPr algn="ctr">
              <a:lnSpc>
                <a:spcPts val="3662"/>
              </a:lnSpc>
            </a:pPr>
          </a:p>
          <a:p>
            <a:pPr algn="ctr">
              <a:lnSpc>
                <a:spcPts val="3662"/>
              </a:lnSpc>
            </a:pPr>
            <a:r>
              <a:rPr lang="en-US" sz="369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El dataset original cuenta con 10841 entradas y 13 columnas.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-1050601">
            <a:off x="16793533" y="8842633"/>
            <a:ext cx="1034779" cy="976455"/>
          </a:xfrm>
          <a:custGeom>
            <a:avLst/>
            <a:gdLst/>
            <a:ahLst/>
            <a:cxnLst/>
            <a:rect r="r" b="b" t="t" l="l"/>
            <a:pathLst>
              <a:path h="976455" w="1034779">
                <a:moveTo>
                  <a:pt x="0" y="0"/>
                </a:moveTo>
                <a:lnTo>
                  <a:pt x="1034779" y="0"/>
                </a:lnTo>
                <a:lnTo>
                  <a:pt x="1034779" y="976455"/>
                </a:lnTo>
                <a:lnTo>
                  <a:pt x="0" y="9764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68799">
            <a:off x="16168482" y="682184"/>
            <a:ext cx="1233161" cy="1163656"/>
          </a:xfrm>
          <a:custGeom>
            <a:avLst/>
            <a:gdLst/>
            <a:ahLst/>
            <a:cxnLst/>
            <a:rect r="r" b="b" t="t" l="l"/>
            <a:pathLst>
              <a:path h="1163656" w="1233161">
                <a:moveTo>
                  <a:pt x="0" y="0"/>
                </a:moveTo>
                <a:lnTo>
                  <a:pt x="1233161" y="0"/>
                </a:lnTo>
                <a:lnTo>
                  <a:pt x="1233161" y="1163655"/>
                </a:lnTo>
                <a:lnTo>
                  <a:pt x="0" y="116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44195">
            <a:off x="813413" y="5154221"/>
            <a:ext cx="1404298" cy="1325147"/>
          </a:xfrm>
          <a:custGeom>
            <a:avLst/>
            <a:gdLst/>
            <a:ahLst/>
            <a:cxnLst/>
            <a:rect r="r" b="b" t="t" l="l"/>
            <a:pathLst>
              <a:path h="1325147" w="1404298">
                <a:moveTo>
                  <a:pt x="0" y="0"/>
                </a:moveTo>
                <a:lnTo>
                  <a:pt x="1404298" y="0"/>
                </a:lnTo>
                <a:lnTo>
                  <a:pt x="1404298" y="1325147"/>
                </a:lnTo>
                <a:lnTo>
                  <a:pt x="0" y="1325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526217">
            <a:off x="967707" y="8855832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4409572" y="8184692"/>
            <a:ext cx="3150803" cy="1914113"/>
          </a:xfrm>
          <a:custGeom>
            <a:avLst/>
            <a:gdLst/>
            <a:ahLst/>
            <a:cxnLst/>
            <a:rect r="r" b="b" t="t" l="l"/>
            <a:pathLst>
              <a:path h="1914113" w="3150803">
                <a:moveTo>
                  <a:pt x="0" y="0"/>
                </a:moveTo>
                <a:lnTo>
                  <a:pt x="3150804" y="0"/>
                </a:lnTo>
                <a:lnTo>
                  <a:pt x="3150804" y="1914113"/>
                </a:lnTo>
                <a:lnTo>
                  <a:pt x="0" y="191411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68799">
            <a:off x="1447496" y="122348"/>
            <a:ext cx="1233161" cy="1163656"/>
          </a:xfrm>
          <a:custGeom>
            <a:avLst/>
            <a:gdLst/>
            <a:ahLst/>
            <a:cxnLst/>
            <a:rect r="r" b="b" t="t" l="l"/>
            <a:pathLst>
              <a:path h="1163656" w="1233161">
                <a:moveTo>
                  <a:pt x="0" y="0"/>
                </a:moveTo>
                <a:lnTo>
                  <a:pt x="1233161" y="0"/>
                </a:lnTo>
                <a:lnTo>
                  <a:pt x="1233161" y="1163655"/>
                </a:lnTo>
                <a:lnTo>
                  <a:pt x="0" y="11636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1154730">
            <a:off x="13809191" y="535287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120371">
            <a:off x="12408239" y="9178502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288764" y="1467839"/>
            <a:ext cx="16271612" cy="11334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25"/>
              </a:lnSpc>
            </a:pPr>
            <a:r>
              <a:rPr lang="en-US" sz="7500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Nuestro objetivo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2333989" y="3395937"/>
            <a:ext cx="14508661" cy="1739728"/>
            <a:chOff x="0" y="0"/>
            <a:chExt cx="19344881" cy="231963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20268" cy="2319638"/>
            </a:xfrm>
            <a:custGeom>
              <a:avLst/>
              <a:gdLst/>
              <a:ahLst/>
              <a:cxnLst/>
              <a:rect r="r" b="b" t="t" l="l"/>
              <a:pathLst>
                <a:path h="2319638" w="5620268">
                  <a:moveTo>
                    <a:pt x="0" y="0"/>
                  </a:moveTo>
                  <a:lnTo>
                    <a:pt x="5620268" y="0"/>
                  </a:lnTo>
                  <a:lnTo>
                    <a:pt x="5620268" y="2319638"/>
                  </a:lnTo>
                  <a:lnTo>
                    <a:pt x="0" y="2319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2" id="12"/>
            <p:cNvSpPr/>
            <p:nvPr/>
          </p:nvSpPr>
          <p:spPr>
            <a:xfrm flipH="false" flipV="false" rot="0">
              <a:off x="5132940" y="0"/>
              <a:ext cx="5620268" cy="2319638"/>
            </a:xfrm>
            <a:custGeom>
              <a:avLst/>
              <a:gdLst/>
              <a:ahLst/>
              <a:cxnLst/>
              <a:rect r="r" b="b" t="t" l="l"/>
              <a:pathLst>
                <a:path h="2319638" w="5620268">
                  <a:moveTo>
                    <a:pt x="0" y="0"/>
                  </a:moveTo>
                  <a:lnTo>
                    <a:pt x="5620268" y="0"/>
                  </a:lnTo>
                  <a:lnTo>
                    <a:pt x="5620268" y="2319638"/>
                  </a:lnTo>
                  <a:lnTo>
                    <a:pt x="0" y="2319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10212220" y="0"/>
              <a:ext cx="5620268" cy="2319638"/>
            </a:xfrm>
            <a:custGeom>
              <a:avLst/>
              <a:gdLst/>
              <a:ahLst/>
              <a:cxnLst/>
              <a:rect r="r" b="b" t="t" l="l"/>
              <a:pathLst>
                <a:path h="2319638" w="5620268">
                  <a:moveTo>
                    <a:pt x="0" y="0"/>
                  </a:moveTo>
                  <a:lnTo>
                    <a:pt x="5620268" y="0"/>
                  </a:lnTo>
                  <a:lnTo>
                    <a:pt x="5620268" y="2319638"/>
                  </a:lnTo>
                  <a:lnTo>
                    <a:pt x="0" y="2319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3724613" y="0"/>
              <a:ext cx="5620268" cy="2319638"/>
            </a:xfrm>
            <a:custGeom>
              <a:avLst/>
              <a:gdLst/>
              <a:ahLst/>
              <a:cxnLst/>
              <a:rect r="r" b="b" t="t" l="l"/>
              <a:pathLst>
                <a:path h="2319638" w="5620268">
                  <a:moveTo>
                    <a:pt x="0" y="0"/>
                  </a:moveTo>
                  <a:lnTo>
                    <a:pt x="5620268" y="0"/>
                  </a:lnTo>
                  <a:lnTo>
                    <a:pt x="5620268" y="2319638"/>
                  </a:lnTo>
                  <a:lnTo>
                    <a:pt x="0" y="231963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2675992" y="3739301"/>
            <a:ext cx="13642999" cy="1158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500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¿Qué factores influyen en que una aplicación de Google Play Store sea percibida como de 'buena' o 'mala' calidad?.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2480748" y="6930433"/>
            <a:ext cx="2308951" cy="3168372"/>
          </a:xfrm>
          <a:custGeom>
            <a:avLst/>
            <a:gdLst/>
            <a:ahLst/>
            <a:cxnLst/>
            <a:rect r="r" b="b" t="t" l="l"/>
            <a:pathLst>
              <a:path h="3168372" w="2308951">
                <a:moveTo>
                  <a:pt x="0" y="0"/>
                </a:moveTo>
                <a:lnTo>
                  <a:pt x="2308951" y="0"/>
                </a:lnTo>
                <a:lnTo>
                  <a:pt x="2308951" y="3168372"/>
                </a:lnTo>
                <a:lnTo>
                  <a:pt x="0" y="316837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6181571" y="5462941"/>
            <a:ext cx="3867729" cy="1596317"/>
          </a:xfrm>
          <a:custGeom>
            <a:avLst/>
            <a:gdLst/>
            <a:ahLst/>
            <a:cxnLst/>
            <a:rect r="r" b="b" t="t" l="l"/>
            <a:pathLst>
              <a:path h="1596317" w="3867729">
                <a:moveTo>
                  <a:pt x="0" y="0"/>
                </a:moveTo>
                <a:lnTo>
                  <a:pt x="3867728" y="0"/>
                </a:lnTo>
                <a:lnTo>
                  <a:pt x="3867728" y="1596317"/>
                </a:lnTo>
                <a:lnTo>
                  <a:pt x="0" y="1596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00104" y="5462941"/>
            <a:ext cx="3867729" cy="1596317"/>
          </a:xfrm>
          <a:custGeom>
            <a:avLst/>
            <a:gdLst/>
            <a:ahLst/>
            <a:cxnLst/>
            <a:rect r="r" b="b" t="t" l="l"/>
            <a:pathLst>
              <a:path h="1596317" w="3867729">
                <a:moveTo>
                  <a:pt x="0" y="0"/>
                </a:moveTo>
                <a:lnTo>
                  <a:pt x="3867728" y="0"/>
                </a:lnTo>
                <a:lnTo>
                  <a:pt x="3867728" y="1596317"/>
                </a:lnTo>
                <a:lnTo>
                  <a:pt x="0" y="1596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2117245" y="5462941"/>
            <a:ext cx="3867729" cy="1596317"/>
          </a:xfrm>
          <a:custGeom>
            <a:avLst/>
            <a:gdLst/>
            <a:ahLst/>
            <a:cxnLst/>
            <a:rect r="r" b="b" t="t" l="l"/>
            <a:pathLst>
              <a:path h="1596317" w="3867729">
                <a:moveTo>
                  <a:pt x="0" y="0"/>
                </a:moveTo>
                <a:lnTo>
                  <a:pt x="3867729" y="0"/>
                </a:lnTo>
                <a:lnTo>
                  <a:pt x="3867729" y="1596317"/>
                </a:lnTo>
                <a:lnTo>
                  <a:pt x="0" y="1596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6181571" y="6261100"/>
            <a:ext cx="3867729" cy="1596317"/>
          </a:xfrm>
          <a:custGeom>
            <a:avLst/>
            <a:gdLst/>
            <a:ahLst/>
            <a:cxnLst/>
            <a:rect r="r" b="b" t="t" l="l"/>
            <a:pathLst>
              <a:path h="1596317" w="3867729">
                <a:moveTo>
                  <a:pt x="0" y="0"/>
                </a:moveTo>
                <a:lnTo>
                  <a:pt x="3867728" y="0"/>
                </a:lnTo>
                <a:lnTo>
                  <a:pt x="3867728" y="1596317"/>
                </a:lnTo>
                <a:lnTo>
                  <a:pt x="0" y="1596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9554003" y="6261100"/>
            <a:ext cx="3867729" cy="1596317"/>
          </a:xfrm>
          <a:custGeom>
            <a:avLst/>
            <a:gdLst/>
            <a:ahLst/>
            <a:cxnLst/>
            <a:rect r="r" b="b" t="t" l="l"/>
            <a:pathLst>
              <a:path h="1596317" w="3867729">
                <a:moveTo>
                  <a:pt x="0" y="0"/>
                </a:moveTo>
                <a:lnTo>
                  <a:pt x="3867729" y="0"/>
                </a:lnTo>
                <a:lnTo>
                  <a:pt x="3867729" y="1596317"/>
                </a:lnTo>
                <a:lnTo>
                  <a:pt x="0" y="1596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2117245" y="6261100"/>
            <a:ext cx="3867729" cy="1596317"/>
          </a:xfrm>
          <a:custGeom>
            <a:avLst/>
            <a:gdLst/>
            <a:ahLst/>
            <a:cxnLst/>
            <a:rect r="r" b="b" t="t" l="l"/>
            <a:pathLst>
              <a:path h="1596317" w="3867729">
                <a:moveTo>
                  <a:pt x="0" y="0"/>
                </a:moveTo>
                <a:lnTo>
                  <a:pt x="3867729" y="0"/>
                </a:lnTo>
                <a:lnTo>
                  <a:pt x="3867729" y="1596317"/>
                </a:lnTo>
                <a:lnTo>
                  <a:pt x="0" y="159631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3" id="23"/>
          <p:cNvSpPr txBox="true"/>
          <p:nvPr/>
        </p:nvSpPr>
        <p:spPr>
          <a:xfrm rot="0">
            <a:off x="6407151" y="5754851"/>
            <a:ext cx="9352242" cy="17202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55"/>
              </a:lnSpc>
            </a:pPr>
            <a:r>
              <a:rPr lang="en-US" sz="4500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¿Podemos predecir la calidad de una aplicación basándonos en sus características?.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081686">
            <a:off x="14578224" y="626232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314742">
            <a:off x="10274135" y="196913"/>
            <a:ext cx="1762940" cy="1663575"/>
          </a:xfrm>
          <a:custGeom>
            <a:avLst/>
            <a:gdLst/>
            <a:ahLst/>
            <a:cxnLst/>
            <a:rect r="r" b="b" t="t" l="l"/>
            <a:pathLst>
              <a:path h="1663575" w="1762940">
                <a:moveTo>
                  <a:pt x="0" y="0"/>
                </a:moveTo>
                <a:lnTo>
                  <a:pt x="1762940" y="0"/>
                </a:lnTo>
                <a:lnTo>
                  <a:pt x="1762940" y="1663574"/>
                </a:lnTo>
                <a:lnTo>
                  <a:pt x="0" y="16635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3022968">
            <a:off x="155487" y="9064935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6304568" y="290582"/>
            <a:ext cx="1587386" cy="2200882"/>
          </a:xfrm>
          <a:custGeom>
            <a:avLst/>
            <a:gdLst/>
            <a:ahLst/>
            <a:cxnLst/>
            <a:rect r="r" b="b" t="t" l="l"/>
            <a:pathLst>
              <a:path h="2200882" w="1587386">
                <a:moveTo>
                  <a:pt x="0" y="0"/>
                </a:moveTo>
                <a:lnTo>
                  <a:pt x="1587387" y="0"/>
                </a:lnTo>
                <a:lnTo>
                  <a:pt x="1587387" y="2200882"/>
                </a:lnTo>
                <a:lnTo>
                  <a:pt x="0" y="220088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6437899">
            <a:off x="11044068" y="9404757"/>
            <a:ext cx="1869879" cy="1764486"/>
          </a:xfrm>
          <a:custGeom>
            <a:avLst/>
            <a:gdLst/>
            <a:ahLst/>
            <a:cxnLst/>
            <a:rect r="r" b="b" t="t" l="l"/>
            <a:pathLst>
              <a:path h="1764486" w="1869879">
                <a:moveTo>
                  <a:pt x="0" y="0"/>
                </a:moveTo>
                <a:lnTo>
                  <a:pt x="1869879" y="0"/>
                </a:lnTo>
                <a:lnTo>
                  <a:pt x="1869879" y="1764486"/>
                </a:lnTo>
                <a:lnTo>
                  <a:pt x="0" y="1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80273">
            <a:off x="12816698" y="1062097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059808">
            <a:off x="16395400" y="9321982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270670">
            <a:off x="4271096" y="9444386"/>
            <a:ext cx="1869879" cy="1764486"/>
          </a:xfrm>
          <a:custGeom>
            <a:avLst/>
            <a:gdLst/>
            <a:ahLst/>
            <a:cxnLst/>
            <a:rect r="r" b="b" t="t" l="l"/>
            <a:pathLst>
              <a:path h="1764486" w="1869879">
                <a:moveTo>
                  <a:pt x="0" y="0"/>
                </a:moveTo>
                <a:lnTo>
                  <a:pt x="1869879" y="0"/>
                </a:lnTo>
                <a:lnTo>
                  <a:pt x="1869879" y="1764486"/>
                </a:lnTo>
                <a:lnTo>
                  <a:pt x="0" y="1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936931" y="1061357"/>
            <a:ext cx="9248083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sz="6999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Metodología y datos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163988" y="2945801"/>
            <a:ext cx="15435027" cy="5420677"/>
            <a:chOff x="0" y="0"/>
            <a:chExt cx="20580036" cy="722757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463488" cy="3080385"/>
            </a:xfrm>
            <a:custGeom>
              <a:avLst/>
              <a:gdLst/>
              <a:ahLst/>
              <a:cxnLst/>
              <a:rect r="r" b="b" t="t" l="l"/>
              <a:pathLst>
                <a:path h="3080385" w="7463488">
                  <a:moveTo>
                    <a:pt x="0" y="0"/>
                  </a:moveTo>
                  <a:lnTo>
                    <a:pt x="7463488" y="0"/>
                  </a:lnTo>
                  <a:lnTo>
                    <a:pt x="7463488" y="3080385"/>
                  </a:lnTo>
                  <a:lnTo>
                    <a:pt x="0" y="3080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4147185"/>
              <a:ext cx="7463488" cy="3080385"/>
            </a:xfrm>
            <a:custGeom>
              <a:avLst/>
              <a:gdLst/>
              <a:ahLst/>
              <a:cxnLst/>
              <a:rect r="r" b="b" t="t" l="l"/>
              <a:pathLst>
                <a:path h="3080385" w="7463488">
                  <a:moveTo>
                    <a:pt x="0" y="0"/>
                  </a:moveTo>
                  <a:lnTo>
                    <a:pt x="7463488" y="0"/>
                  </a:lnTo>
                  <a:lnTo>
                    <a:pt x="7463488" y="3080385"/>
                  </a:lnTo>
                  <a:lnTo>
                    <a:pt x="0" y="3080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2358543"/>
              <a:ext cx="7463488" cy="3080385"/>
            </a:xfrm>
            <a:custGeom>
              <a:avLst/>
              <a:gdLst/>
              <a:ahLst/>
              <a:cxnLst/>
              <a:rect r="r" b="b" t="t" l="l"/>
              <a:pathLst>
                <a:path h="3080385" w="7463488">
                  <a:moveTo>
                    <a:pt x="0" y="0"/>
                  </a:moveTo>
                  <a:lnTo>
                    <a:pt x="7463488" y="0"/>
                  </a:lnTo>
                  <a:lnTo>
                    <a:pt x="7463488" y="3080385"/>
                  </a:lnTo>
                  <a:lnTo>
                    <a:pt x="0" y="3080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6676010" y="0"/>
              <a:ext cx="7463488" cy="3080385"/>
            </a:xfrm>
            <a:custGeom>
              <a:avLst/>
              <a:gdLst/>
              <a:ahLst/>
              <a:cxnLst/>
              <a:rect r="r" b="b" t="t" l="l"/>
              <a:pathLst>
                <a:path h="3080385" w="7463488">
                  <a:moveTo>
                    <a:pt x="0" y="0"/>
                  </a:moveTo>
                  <a:lnTo>
                    <a:pt x="7463487" y="0"/>
                  </a:lnTo>
                  <a:lnTo>
                    <a:pt x="7463487" y="3080385"/>
                  </a:lnTo>
                  <a:lnTo>
                    <a:pt x="0" y="3080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6676010" y="4147185"/>
              <a:ext cx="7463488" cy="3080385"/>
            </a:xfrm>
            <a:custGeom>
              <a:avLst/>
              <a:gdLst/>
              <a:ahLst/>
              <a:cxnLst/>
              <a:rect r="r" b="b" t="t" l="l"/>
              <a:pathLst>
                <a:path h="3080385" w="7463488">
                  <a:moveTo>
                    <a:pt x="0" y="0"/>
                  </a:moveTo>
                  <a:lnTo>
                    <a:pt x="7463487" y="0"/>
                  </a:lnTo>
                  <a:lnTo>
                    <a:pt x="7463487" y="3080385"/>
                  </a:lnTo>
                  <a:lnTo>
                    <a:pt x="0" y="3080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6676010" y="2358543"/>
              <a:ext cx="7463488" cy="3080385"/>
            </a:xfrm>
            <a:custGeom>
              <a:avLst/>
              <a:gdLst/>
              <a:ahLst/>
              <a:cxnLst/>
              <a:rect r="r" b="b" t="t" l="l"/>
              <a:pathLst>
                <a:path h="3080385" w="7463488">
                  <a:moveTo>
                    <a:pt x="0" y="0"/>
                  </a:moveTo>
                  <a:lnTo>
                    <a:pt x="7463487" y="0"/>
                  </a:lnTo>
                  <a:lnTo>
                    <a:pt x="7463487" y="3080385"/>
                  </a:lnTo>
                  <a:lnTo>
                    <a:pt x="0" y="3080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13116549" y="0"/>
              <a:ext cx="7463488" cy="3080385"/>
            </a:xfrm>
            <a:custGeom>
              <a:avLst/>
              <a:gdLst/>
              <a:ahLst/>
              <a:cxnLst/>
              <a:rect r="r" b="b" t="t" l="l"/>
              <a:pathLst>
                <a:path h="3080385" w="7463488">
                  <a:moveTo>
                    <a:pt x="0" y="0"/>
                  </a:moveTo>
                  <a:lnTo>
                    <a:pt x="7463487" y="0"/>
                  </a:lnTo>
                  <a:lnTo>
                    <a:pt x="7463487" y="3080385"/>
                  </a:lnTo>
                  <a:lnTo>
                    <a:pt x="0" y="3080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3116549" y="4147185"/>
              <a:ext cx="7463488" cy="3080385"/>
            </a:xfrm>
            <a:custGeom>
              <a:avLst/>
              <a:gdLst/>
              <a:ahLst/>
              <a:cxnLst/>
              <a:rect r="r" b="b" t="t" l="l"/>
              <a:pathLst>
                <a:path h="3080385" w="7463488">
                  <a:moveTo>
                    <a:pt x="0" y="0"/>
                  </a:moveTo>
                  <a:lnTo>
                    <a:pt x="7463487" y="0"/>
                  </a:lnTo>
                  <a:lnTo>
                    <a:pt x="7463487" y="3080385"/>
                  </a:lnTo>
                  <a:lnTo>
                    <a:pt x="0" y="3080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20" id="20"/>
            <p:cNvSpPr/>
            <p:nvPr/>
          </p:nvSpPr>
          <p:spPr>
            <a:xfrm flipH="false" flipV="false" rot="0">
              <a:off x="13116549" y="2358543"/>
              <a:ext cx="7463488" cy="3080385"/>
            </a:xfrm>
            <a:custGeom>
              <a:avLst/>
              <a:gdLst/>
              <a:ahLst/>
              <a:cxnLst/>
              <a:rect r="r" b="b" t="t" l="l"/>
              <a:pathLst>
                <a:path h="3080385" w="7463488">
                  <a:moveTo>
                    <a:pt x="0" y="0"/>
                  </a:moveTo>
                  <a:lnTo>
                    <a:pt x="7463487" y="0"/>
                  </a:lnTo>
                  <a:lnTo>
                    <a:pt x="7463487" y="3080385"/>
                  </a:lnTo>
                  <a:lnTo>
                    <a:pt x="0" y="308038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1313923" y="3414084"/>
            <a:ext cx="15135157" cy="5184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79488" indent="-539744" lvl="1">
              <a:lnSpc>
                <a:spcPts val="4549"/>
              </a:lnSpc>
              <a:buFont typeface="Arial"/>
              <a:buChar char="•"/>
            </a:pPr>
            <a:r>
              <a:rPr lang="en-US" sz="499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Dat</a:t>
            </a:r>
            <a:r>
              <a:rPr lang="en-US" sz="499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aset: Google Play Store Apps (Lava18).</a:t>
            </a:r>
          </a:p>
          <a:p>
            <a:pPr algn="l">
              <a:lnSpc>
                <a:spcPts val="4549"/>
              </a:lnSpc>
            </a:pPr>
          </a:p>
          <a:p>
            <a:pPr algn="l" marL="1079488" indent="-539744" lvl="1">
              <a:lnSpc>
                <a:spcPts val="4549"/>
              </a:lnSpc>
              <a:buFont typeface="Arial"/>
              <a:buChar char="•"/>
            </a:pPr>
            <a:r>
              <a:rPr lang="en-US" sz="499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Stack: Python, Pandas, Scikit-Learn.</a:t>
            </a:r>
          </a:p>
          <a:p>
            <a:pPr algn="l">
              <a:lnSpc>
                <a:spcPts val="4549"/>
              </a:lnSpc>
            </a:pPr>
          </a:p>
          <a:p>
            <a:pPr algn="l" marL="1079488" indent="-539744" lvl="1">
              <a:lnSpc>
                <a:spcPts val="4549"/>
              </a:lnSpc>
              <a:buFont typeface="Arial"/>
              <a:buChar char="•"/>
            </a:pPr>
            <a:r>
              <a:rPr lang="en-US" sz="499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Pipeline: Transfor</a:t>
            </a:r>
            <a:r>
              <a:rPr lang="en-US" sz="499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mación de datos mediante ColumnTransformer y OneHotEncoding.</a:t>
            </a:r>
          </a:p>
          <a:p>
            <a:pPr algn="l">
              <a:lnSpc>
                <a:spcPts val="4549"/>
              </a:lnSpc>
            </a:pPr>
          </a:p>
          <a:p>
            <a:pPr algn="l" marL="1079488" indent="-539744" lvl="1">
              <a:lnSpc>
                <a:spcPts val="4549"/>
              </a:lnSpc>
              <a:buFont typeface="Arial"/>
              <a:buChar char="•"/>
            </a:pPr>
            <a:r>
              <a:rPr lang="en-US" sz="499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Dashboard: Visualización interactiva con Dash y Plotly.</a:t>
            </a:r>
          </a:p>
          <a:p>
            <a:pPr algn="l">
              <a:lnSpc>
                <a:spcPts val="454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846996">
            <a:off x="-957053" y="-1071145"/>
            <a:ext cx="2399729" cy="3183720"/>
          </a:xfrm>
          <a:custGeom>
            <a:avLst/>
            <a:gdLst/>
            <a:ahLst/>
            <a:cxnLst/>
            <a:rect r="r" b="b" t="t" l="l"/>
            <a:pathLst>
              <a:path h="3183720" w="2399729">
                <a:moveTo>
                  <a:pt x="0" y="0"/>
                </a:moveTo>
                <a:lnTo>
                  <a:pt x="2399729" y="0"/>
                </a:lnTo>
                <a:lnTo>
                  <a:pt x="2399729" y="3183720"/>
                </a:lnTo>
                <a:lnTo>
                  <a:pt x="0" y="3183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30291">
            <a:off x="13597847" y="1188783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024354" y="8979142"/>
            <a:ext cx="2557431" cy="1055521"/>
          </a:xfrm>
          <a:custGeom>
            <a:avLst/>
            <a:gdLst/>
            <a:ahLst/>
            <a:cxnLst/>
            <a:rect r="r" b="b" t="t" l="l"/>
            <a:pathLst>
              <a:path h="1055521" w="2557431">
                <a:moveTo>
                  <a:pt x="0" y="0"/>
                </a:moveTo>
                <a:lnTo>
                  <a:pt x="2557431" y="0"/>
                </a:lnTo>
                <a:lnTo>
                  <a:pt x="2557431" y="1055521"/>
                </a:lnTo>
                <a:lnTo>
                  <a:pt x="0" y="1055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526217">
            <a:off x="16530916" y="8023663"/>
            <a:ext cx="1456769" cy="1374660"/>
          </a:xfrm>
          <a:custGeom>
            <a:avLst/>
            <a:gdLst/>
            <a:ahLst/>
            <a:cxnLst/>
            <a:rect r="r" b="b" t="t" l="l"/>
            <a:pathLst>
              <a:path h="1374660" w="1456769">
                <a:moveTo>
                  <a:pt x="0" y="0"/>
                </a:moveTo>
                <a:lnTo>
                  <a:pt x="1456768" y="0"/>
                </a:lnTo>
                <a:lnTo>
                  <a:pt x="1456768" y="1374660"/>
                </a:lnTo>
                <a:lnTo>
                  <a:pt x="0" y="137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526217">
            <a:off x="7428821" y="7687633"/>
            <a:ext cx="2246425" cy="2119809"/>
          </a:xfrm>
          <a:custGeom>
            <a:avLst/>
            <a:gdLst/>
            <a:ahLst/>
            <a:cxnLst/>
            <a:rect r="r" b="b" t="t" l="l"/>
            <a:pathLst>
              <a:path h="2119809" w="2246425">
                <a:moveTo>
                  <a:pt x="0" y="0"/>
                </a:moveTo>
                <a:lnTo>
                  <a:pt x="2246425" y="0"/>
                </a:lnTo>
                <a:lnTo>
                  <a:pt x="2246425" y="2119808"/>
                </a:lnTo>
                <a:lnTo>
                  <a:pt x="0" y="211980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7" id="7"/>
          <p:cNvGraphicFramePr/>
          <p:nvPr/>
        </p:nvGraphicFramePr>
        <p:xfrm>
          <a:off x="442812" y="2258611"/>
          <a:ext cx="15769565" cy="6869027"/>
        </p:xfrm>
        <a:graphic>
          <a:graphicData uri="http://schemas.openxmlformats.org/presentationml/2006/ole">
            <p:oleObj imgW="18923000" imgH="10020300" r:id="rId9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8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8" id="8"/>
          <p:cNvSpPr/>
          <p:nvPr/>
        </p:nvSpPr>
        <p:spPr>
          <a:xfrm flipH="false" flipV="false" rot="1234928">
            <a:off x="602193" y="9091521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2185986" y="224333"/>
            <a:ext cx="10476931" cy="9734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35"/>
              </a:lnSpc>
            </a:pPr>
            <a:r>
              <a:rPr lang="en-US" sz="6500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Preprocesamiento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12082" y="1188263"/>
            <a:ext cx="11712272" cy="76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8"/>
              </a:lnSpc>
            </a:pPr>
            <a:r>
              <a:rPr lang="en-US" sz="4653">
                <a:solidFill>
                  <a:srgbClr val="616164"/>
                </a:solidFill>
                <a:latin typeface="Funtastic"/>
                <a:ea typeface="Funtastic"/>
                <a:cs typeface="Funtastic"/>
                <a:sym typeface="Funtastic"/>
              </a:rPr>
              <a:t>Limpieza y transformaciones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731328" y="8979142"/>
            <a:ext cx="2557431" cy="1055521"/>
          </a:xfrm>
          <a:custGeom>
            <a:avLst/>
            <a:gdLst/>
            <a:ahLst/>
            <a:cxnLst/>
            <a:rect r="r" b="b" t="t" l="l"/>
            <a:pathLst>
              <a:path h="1055521" w="2557431">
                <a:moveTo>
                  <a:pt x="0" y="0"/>
                </a:moveTo>
                <a:lnTo>
                  <a:pt x="2557430" y="0"/>
                </a:lnTo>
                <a:lnTo>
                  <a:pt x="2557430" y="1055521"/>
                </a:lnTo>
                <a:lnTo>
                  <a:pt x="0" y="10555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185986" y="8965183"/>
            <a:ext cx="2557431" cy="1055521"/>
          </a:xfrm>
          <a:custGeom>
            <a:avLst/>
            <a:gdLst/>
            <a:ahLst/>
            <a:cxnLst/>
            <a:rect r="r" b="b" t="t" l="l"/>
            <a:pathLst>
              <a:path h="1055521" w="2557431">
                <a:moveTo>
                  <a:pt x="0" y="0"/>
                </a:moveTo>
                <a:lnTo>
                  <a:pt x="2557430" y="0"/>
                </a:lnTo>
                <a:lnTo>
                  <a:pt x="2557430" y="1055522"/>
                </a:lnTo>
                <a:lnTo>
                  <a:pt x="0" y="105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4450616" y="8965183"/>
            <a:ext cx="2557431" cy="1055521"/>
          </a:xfrm>
          <a:custGeom>
            <a:avLst/>
            <a:gdLst/>
            <a:ahLst/>
            <a:cxnLst/>
            <a:rect r="r" b="b" t="t" l="l"/>
            <a:pathLst>
              <a:path h="1055521" w="2557431">
                <a:moveTo>
                  <a:pt x="0" y="0"/>
                </a:moveTo>
                <a:lnTo>
                  <a:pt x="2557431" y="0"/>
                </a:lnTo>
                <a:lnTo>
                  <a:pt x="2557431" y="1055522"/>
                </a:lnTo>
                <a:lnTo>
                  <a:pt x="0" y="105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6715247" y="8965183"/>
            <a:ext cx="2557431" cy="1055521"/>
          </a:xfrm>
          <a:custGeom>
            <a:avLst/>
            <a:gdLst/>
            <a:ahLst/>
            <a:cxnLst/>
            <a:rect r="r" b="b" t="t" l="l"/>
            <a:pathLst>
              <a:path h="1055521" w="2557431">
                <a:moveTo>
                  <a:pt x="0" y="0"/>
                </a:moveTo>
                <a:lnTo>
                  <a:pt x="2557430" y="0"/>
                </a:lnTo>
                <a:lnTo>
                  <a:pt x="2557430" y="1055522"/>
                </a:lnTo>
                <a:lnTo>
                  <a:pt x="0" y="105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8979877" y="8965183"/>
            <a:ext cx="2557431" cy="1055521"/>
          </a:xfrm>
          <a:custGeom>
            <a:avLst/>
            <a:gdLst/>
            <a:ahLst/>
            <a:cxnLst/>
            <a:rect r="r" b="b" t="t" l="l"/>
            <a:pathLst>
              <a:path h="1055521" w="2557431">
                <a:moveTo>
                  <a:pt x="0" y="0"/>
                </a:moveTo>
                <a:lnTo>
                  <a:pt x="2557431" y="0"/>
                </a:lnTo>
                <a:lnTo>
                  <a:pt x="2557431" y="1055522"/>
                </a:lnTo>
                <a:lnTo>
                  <a:pt x="0" y="105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244508" y="8965183"/>
            <a:ext cx="2557431" cy="1055521"/>
          </a:xfrm>
          <a:custGeom>
            <a:avLst/>
            <a:gdLst/>
            <a:ahLst/>
            <a:cxnLst/>
            <a:rect r="r" b="b" t="t" l="l"/>
            <a:pathLst>
              <a:path h="1055521" w="2557431">
                <a:moveTo>
                  <a:pt x="0" y="0"/>
                </a:moveTo>
                <a:lnTo>
                  <a:pt x="2557430" y="0"/>
                </a:lnTo>
                <a:lnTo>
                  <a:pt x="2557430" y="1055522"/>
                </a:lnTo>
                <a:lnTo>
                  <a:pt x="0" y="105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3509138" y="8965183"/>
            <a:ext cx="2557431" cy="1055521"/>
          </a:xfrm>
          <a:custGeom>
            <a:avLst/>
            <a:gdLst/>
            <a:ahLst/>
            <a:cxnLst/>
            <a:rect r="r" b="b" t="t" l="l"/>
            <a:pathLst>
              <a:path h="1055521" w="2557431">
                <a:moveTo>
                  <a:pt x="0" y="0"/>
                </a:moveTo>
                <a:lnTo>
                  <a:pt x="2557431" y="0"/>
                </a:lnTo>
                <a:lnTo>
                  <a:pt x="2557431" y="1055522"/>
                </a:lnTo>
                <a:lnTo>
                  <a:pt x="0" y="105552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59356" y="9191625"/>
            <a:ext cx="14369288" cy="563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20"/>
              </a:lnSpc>
              <a:spcBef>
                <a:spcPct val="0"/>
              </a:spcBef>
            </a:pPr>
            <a:r>
              <a:rPr lang="en-US" b="true" sz="3300">
                <a:solidFill>
                  <a:srgbClr val="A66B49"/>
                </a:solidFill>
                <a:latin typeface="Sukar Bold"/>
                <a:ea typeface="Sukar Bold"/>
                <a:cs typeface="Sukar Bold"/>
                <a:sym typeface="Sukar Bold"/>
              </a:rPr>
              <a:t> Se crearon variables nuevas: Days Last Update y Quality Status (Target).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-8100000">
            <a:off x="16618451" y="-2802244"/>
            <a:ext cx="3339098" cy="5049675"/>
          </a:xfrm>
          <a:custGeom>
            <a:avLst/>
            <a:gdLst/>
            <a:ahLst/>
            <a:cxnLst/>
            <a:rect r="r" b="b" t="t" l="l"/>
            <a:pathLst>
              <a:path h="5049675" w="3339098">
                <a:moveTo>
                  <a:pt x="0" y="0"/>
                </a:moveTo>
                <a:lnTo>
                  <a:pt x="3339098" y="0"/>
                </a:lnTo>
                <a:lnTo>
                  <a:pt x="3339098" y="5049676"/>
                </a:lnTo>
                <a:lnTo>
                  <a:pt x="0" y="50496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846996">
            <a:off x="-957053" y="-1071145"/>
            <a:ext cx="2399729" cy="3183720"/>
          </a:xfrm>
          <a:custGeom>
            <a:avLst/>
            <a:gdLst/>
            <a:ahLst/>
            <a:cxnLst/>
            <a:rect r="r" b="b" t="t" l="l"/>
            <a:pathLst>
              <a:path h="3183720" w="2399729">
                <a:moveTo>
                  <a:pt x="0" y="0"/>
                </a:moveTo>
                <a:lnTo>
                  <a:pt x="2399729" y="0"/>
                </a:lnTo>
                <a:lnTo>
                  <a:pt x="2399729" y="3183720"/>
                </a:lnTo>
                <a:lnTo>
                  <a:pt x="0" y="3183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408795">
            <a:off x="15209980" y="198072"/>
            <a:ext cx="1901860" cy="2377325"/>
          </a:xfrm>
          <a:custGeom>
            <a:avLst/>
            <a:gdLst/>
            <a:ahLst/>
            <a:cxnLst/>
            <a:rect r="r" b="b" t="t" l="l"/>
            <a:pathLst>
              <a:path h="2377325" w="1901860">
                <a:moveTo>
                  <a:pt x="0" y="0"/>
                </a:moveTo>
                <a:lnTo>
                  <a:pt x="1901860" y="0"/>
                </a:lnTo>
                <a:lnTo>
                  <a:pt x="1901860" y="2377325"/>
                </a:lnTo>
                <a:lnTo>
                  <a:pt x="0" y="237732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2363020">
            <a:off x="13617941" y="1188783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526217">
            <a:off x="7428821" y="8940779"/>
            <a:ext cx="2246425" cy="2119809"/>
          </a:xfrm>
          <a:custGeom>
            <a:avLst/>
            <a:gdLst/>
            <a:ahLst/>
            <a:cxnLst/>
            <a:rect r="r" b="b" t="t" l="l"/>
            <a:pathLst>
              <a:path h="2119809" w="2246425">
                <a:moveTo>
                  <a:pt x="0" y="0"/>
                </a:moveTo>
                <a:lnTo>
                  <a:pt x="2246425" y="0"/>
                </a:lnTo>
                <a:lnTo>
                  <a:pt x="2246425" y="2119809"/>
                </a:lnTo>
                <a:lnTo>
                  <a:pt x="0" y="2119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526217">
            <a:off x="168826" y="4567574"/>
            <a:ext cx="901327" cy="850525"/>
          </a:xfrm>
          <a:custGeom>
            <a:avLst/>
            <a:gdLst/>
            <a:ahLst/>
            <a:cxnLst/>
            <a:rect r="r" b="b" t="t" l="l"/>
            <a:pathLst>
              <a:path h="850525" w="901327">
                <a:moveTo>
                  <a:pt x="0" y="0"/>
                </a:moveTo>
                <a:lnTo>
                  <a:pt x="901328" y="0"/>
                </a:lnTo>
                <a:lnTo>
                  <a:pt x="901328" y="850525"/>
                </a:lnTo>
                <a:lnTo>
                  <a:pt x="0" y="85052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144000" y="2620897"/>
            <a:ext cx="8948541" cy="6962805"/>
          </a:xfrm>
          <a:custGeom>
            <a:avLst/>
            <a:gdLst/>
            <a:ahLst/>
            <a:cxnLst/>
            <a:rect r="r" b="b" t="t" l="l"/>
            <a:pathLst>
              <a:path h="6962805" w="8948541">
                <a:moveTo>
                  <a:pt x="0" y="0"/>
                </a:moveTo>
                <a:lnTo>
                  <a:pt x="8948541" y="0"/>
                </a:lnTo>
                <a:lnTo>
                  <a:pt x="8948541" y="6962805"/>
                </a:lnTo>
                <a:lnTo>
                  <a:pt x="0" y="696280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982493" y="669231"/>
            <a:ext cx="10476931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999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Clustering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32758" y="2855852"/>
            <a:ext cx="8743469" cy="3608668"/>
          </a:xfrm>
          <a:custGeom>
            <a:avLst/>
            <a:gdLst/>
            <a:ahLst/>
            <a:cxnLst/>
            <a:rect r="r" b="b" t="t" l="l"/>
            <a:pathLst>
              <a:path h="3608668" w="8743469">
                <a:moveTo>
                  <a:pt x="0" y="0"/>
                </a:moveTo>
                <a:lnTo>
                  <a:pt x="8743469" y="0"/>
                </a:lnTo>
                <a:lnTo>
                  <a:pt x="8743469" y="3608668"/>
                </a:lnTo>
                <a:lnTo>
                  <a:pt x="0" y="360866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028700" y="6802277"/>
            <a:ext cx="7270987" cy="3000935"/>
          </a:xfrm>
          <a:custGeom>
            <a:avLst/>
            <a:gdLst/>
            <a:ahLst/>
            <a:cxnLst/>
            <a:rect r="r" b="b" t="t" l="l"/>
            <a:pathLst>
              <a:path h="3000935" w="7270987">
                <a:moveTo>
                  <a:pt x="0" y="0"/>
                </a:moveTo>
                <a:lnTo>
                  <a:pt x="7270987" y="0"/>
                </a:lnTo>
                <a:lnTo>
                  <a:pt x="7270987" y="3000934"/>
                </a:lnTo>
                <a:lnTo>
                  <a:pt x="0" y="300093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496185" y="2973407"/>
            <a:ext cx="8216616" cy="32537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08"/>
              </a:lnSpc>
              <a:spcBef>
                <a:spcPct val="0"/>
              </a:spcBef>
            </a:pPr>
            <a:r>
              <a:rPr lang="en-US" sz="464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•</a:t>
            </a:r>
            <a:r>
              <a:rPr lang="en-US" sz="464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 Implementación de K-Means para identificar arquetipos.</a:t>
            </a:r>
          </a:p>
          <a:p>
            <a:pPr algn="ctr">
              <a:lnSpc>
                <a:spcPts val="6508"/>
              </a:lnSpc>
              <a:spcBef>
                <a:spcPct val="0"/>
              </a:spcBef>
            </a:pPr>
            <a:r>
              <a:rPr lang="en-US" sz="464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• Uso de PCA para comprimir las variables en 2D.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-2093829">
            <a:off x="8814281" y="447673"/>
            <a:ext cx="1456769" cy="1374660"/>
          </a:xfrm>
          <a:custGeom>
            <a:avLst/>
            <a:gdLst/>
            <a:ahLst/>
            <a:cxnLst/>
            <a:rect r="r" b="b" t="t" l="l"/>
            <a:pathLst>
              <a:path h="1374660" w="1456769">
                <a:moveTo>
                  <a:pt x="0" y="0"/>
                </a:moveTo>
                <a:lnTo>
                  <a:pt x="1456769" y="0"/>
                </a:lnTo>
                <a:lnTo>
                  <a:pt x="1456769" y="1374660"/>
                </a:lnTo>
                <a:lnTo>
                  <a:pt x="0" y="1374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87915" y="7197945"/>
            <a:ext cx="6752557" cy="2188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80"/>
              </a:lnSpc>
              <a:spcBef>
                <a:spcPct val="0"/>
              </a:spcBef>
            </a:pPr>
            <a:r>
              <a:rPr lang="en-US" b="true" sz="4200">
                <a:solidFill>
                  <a:srgbClr val="A66B49"/>
                </a:solidFill>
                <a:latin typeface="Sukar Bold"/>
                <a:ea typeface="Sukar Bold"/>
                <a:cs typeface="Sukar Bold"/>
                <a:sym typeface="Sukar Bold"/>
              </a:rPr>
              <a:t>El análisis revela clusters diferenciados por tamaño y popularidad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48918" y="2214471"/>
            <a:ext cx="8274800" cy="3415236"/>
          </a:xfrm>
          <a:custGeom>
            <a:avLst/>
            <a:gdLst/>
            <a:ahLst/>
            <a:cxnLst/>
            <a:rect r="r" b="b" t="t" l="l"/>
            <a:pathLst>
              <a:path h="3415236" w="8274800">
                <a:moveTo>
                  <a:pt x="0" y="0"/>
                </a:moveTo>
                <a:lnTo>
                  <a:pt x="8274800" y="0"/>
                </a:lnTo>
                <a:lnTo>
                  <a:pt x="8274800" y="3415235"/>
                </a:lnTo>
                <a:lnTo>
                  <a:pt x="0" y="34152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846996">
            <a:off x="-957053" y="-1071145"/>
            <a:ext cx="2399729" cy="3183720"/>
          </a:xfrm>
          <a:custGeom>
            <a:avLst/>
            <a:gdLst/>
            <a:ahLst/>
            <a:cxnLst/>
            <a:rect r="r" b="b" t="t" l="l"/>
            <a:pathLst>
              <a:path h="3183720" w="2399729">
                <a:moveTo>
                  <a:pt x="0" y="0"/>
                </a:moveTo>
                <a:lnTo>
                  <a:pt x="2399729" y="0"/>
                </a:lnTo>
                <a:lnTo>
                  <a:pt x="2399729" y="3183720"/>
                </a:lnTo>
                <a:lnTo>
                  <a:pt x="0" y="318372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068464">
            <a:off x="11570107" y="475841"/>
            <a:ext cx="1397346" cy="1318587"/>
          </a:xfrm>
          <a:custGeom>
            <a:avLst/>
            <a:gdLst/>
            <a:ahLst/>
            <a:cxnLst/>
            <a:rect r="r" b="b" t="t" l="l"/>
            <a:pathLst>
              <a:path h="1318587" w="1397346">
                <a:moveTo>
                  <a:pt x="0" y="0"/>
                </a:moveTo>
                <a:lnTo>
                  <a:pt x="1397347" y="0"/>
                </a:lnTo>
                <a:lnTo>
                  <a:pt x="1397347" y="1318587"/>
                </a:lnTo>
                <a:lnTo>
                  <a:pt x="0" y="131858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526217">
            <a:off x="16530916" y="8023663"/>
            <a:ext cx="1456769" cy="1374660"/>
          </a:xfrm>
          <a:custGeom>
            <a:avLst/>
            <a:gdLst/>
            <a:ahLst/>
            <a:cxnLst/>
            <a:rect r="r" b="b" t="t" l="l"/>
            <a:pathLst>
              <a:path h="1374660" w="1456769">
                <a:moveTo>
                  <a:pt x="0" y="0"/>
                </a:moveTo>
                <a:lnTo>
                  <a:pt x="1456768" y="0"/>
                </a:lnTo>
                <a:lnTo>
                  <a:pt x="1456768" y="1374660"/>
                </a:lnTo>
                <a:lnTo>
                  <a:pt x="0" y="137466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435762" y="5827311"/>
            <a:ext cx="6487956" cy="2677756"/>
          </a:xfrm>
          <a:custGeom>
            <a:avLst/>
            <a:gdLst/>
            <a:ahLst/>
            <a:cxnLst/>
            <a:rect r="r" b="b" t="t" l="l"/>
            <a:pathLst>
              <a:path h="2677756" w="6487956">
                <a:moveTo>
                  <a:pt x="0" y="0"/>
                </a:moveTo>
                <a:lnTo>
                  <a:pt x="6487956" y="0"/>
                </a:lnTo>
                <a:lnTo>
                  <a:pt x="6487956" y="2677757"/>
                </a:lnTo>
                <a:lnTo>
                  <a:pt x="0" y="2677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26217">
            <a:off x="15620800" y="9495591"/>
            <a:ext cx="2246425" cy="2119809"/>
          </a:xfrm>
          <a:custGeom>
            <a:avLst/>
            <a:gdLst/>
            <a:ahLst/>
            <a:cxnLst/>
            <a:rect r="r" b="b" t="t" l="l"/>
            <a:pathLst>
              <a:path h="2119809" w="2246425">
                <a:moveTo>
                  <a:pt x="0" y="0"/>
                </a:moveTo>
                <a:lnTo>
                  <a:pt x="2246426" y="0"/>
                </a:lnTo>
                <a:lnTo>
                  <a:pt x="2246426" y="2119809"/>
                </a:lnTo>
                <a:lnTo>
                  <a:pt x="0" y="21198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526217">
            <a:off x="9669513" y="475856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5" y="0"/>
                </a:lnTo>
                <a:lnTo>
                  <a:pt x="853015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236913" y="1976511"/>
            <a:ext cx="8591989" cy="7199549"/>
          </a:xfrm>
          <a:custGeom>
            <a:avLst/>
            <a:gdLst/>
            <a:ahLst/>
            <a:cxnLst/>
            <a:rect r="r" b="b" t="t" l="l"/>
            <a:pathLst>
              <a:path h="7199549" w="8591989">
                <a:moveTo>
                  <a:pt x="0" y="0"/>
                </a:moveTo>
                <a:lnTo>
                  <a:pt x="8591988" y="0"/>
                </a:lnTo>
                <a:lnTo>
                  <a:pt x="8591988" y="7199548"/>
                </a:lnTo>
                <a:lnTo>
                  <a:pt x="0" y="719954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4571032" y="293758"/>
            <a:ext cx="1825722" cy="2505279"/>
          </a:xfrm>
          <a:custGeom>
            <a:avLst/>
            <a:gdLst/>
            <a:ahLst/>
            <a:cxnLst/>
            <a:rect r="r" b="b" t="t" l="l"/>
            <a:pathLst>
              <a:path h="2505279" w="1825722">
                <a:moveTo>
                  <a:pt x="0" y="0"/>
                </a:moveTo>
                <a:lnTo>
                  <a:pt x="1825722" y="0"/>
                </a:lnTo>
                <a:lnTo>
                  <a:pt x="1825722" y="2505279"/>
                </a:lnTo>
                <a:lnTo>
                  <a:pt x="0" y="2505279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2461939" y="624377"/>
            <a:ext cx="11777949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999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Modelamiento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68642" y="2536201"/>
            <a:ext cx="7635352" cy="2819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3675"/>
              </a:lnSpc>
              <a:buFont typeface="Arial"/>
              <a:buChar char="•"/>
            </a:pPr>
            <a:r>
              <a:rPr lang="en-US" sz="3500">
                <a:solidFill>
                  <a:srgbClr val="925000"/>
                </a:solidFill>
                <a:latin typeface="Sukar"/>
                <a:ea typeface="Sukar"/>
                <a:cs typeface="Sukar"/>
                <a:sym typeface="Sukar"/>
              </a:rPr>
              <a:t>Regresión</a:t>
            </a:r>
            <a:r>
              <a:rPr lang="en-US" sz="3500">
                <a:solidFill>
                  <a:srgbClr val="925000"/>
                </a:solidFill>
                <a:latin typeface="Sukar"/>
                <a:ea typeface="Sukar"/>
                <a:cs typeface="Sukar"/>
                <a:sym typeface="Sukar"/>
              </a:rPr>
              <a:t> Logística: Score balanceado en test. Demostró mayor estabilidad lineal para separar el target.</a:t>
            </a:r>
          </a:p>
          <a:p>
            <a:pPr algn="ctr">
              <a:lnSpc>
                <a:spcPts val="3675"/>
              </a:lnSpc>
            </a:pPr>
            <a:r>
              <a:rPr lang="en-US" sz="3500">
                <a:solidFill>
                  <a:srgbClr val="925000"/>
                </a:solidFill>
                <a:latin typeface="Sukar"/>
                <a:ea typeface="Sukar"/>
                <a:cs typeface="Sukar"/>
                <a:sym typeface="Sukar"/>
              </a:rPr>
              <a:t>Accuracy: 0.70</a:t>
            </a:r>
          </a:p>
          <a:p>
            <a:pPr algn="ctr">
              <a:lnSpc>
                <a:spcPts val="3675"/>
              </a:lnSpc>
            </a:pPr>
            <a:r>
              <a:rPr lang="en-US" sz="3500">
                <a:solidFill>
                  <a:srgbClr val="925000"/>
                </a:solidFill>
                <a:latin typeface="Sukar"/>
                <a:ea typeface="Sukar"/>
                <a:cs typeface="Sukar"/>
                <a:sym typeface="Sukar"/>
              </a:rPr>
              <a:t>F1 Score: 0.64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648918" y="5843064"/>
            <a:ext cx="6487956" cy="2677756"/>
          </a:xfrm>
          <a:custGeom>
            <a:avLst/>
            <a:gdLst/>
            <a:ahLst/>
            <a:cxnLst/>
            <a:rect r="r" b="b" t="t" l="l"/>
            <a:pathLst>
              <a:path h="2677756" w="6487956">
                <a:moveTo>
                  <a:pt x="0" y="0"/>
                </a:moveTo>
                <a:lnTo>
                  <a:pt x="6487956" y="0"/>
                </a:lnTo>
                <a:lnTo>
                  <a:pt x="6487956" y="2677757"/>
                </a:lnTo>
                <a:lnTo>
                  <a:pt x="0" y="267775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968642" y="6094310"/>
            <a:ext cx="7635352" cy="2134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62" indent="-377831" lvl="1">
              <a:lnSpc>
                <a:spcPts val="4270"/>
              </a:lnSpc>
              <a:buFont typeface="Arial"/>
              <a:buChar char="•"/>
            </a:pPr>
            <a:r>
              <a:rPr lang="en-US" sz="3500">
                <a:solidFill>
                  <a:srgbClr val="925000"/>
                </a:solidFill>
                <a:latin typeface="Sukar"/>
                <a:ea typeface="Sukar"/>
                <a:cs typeface="Sukar"/>
                <a:sym typeface="Sukar"/>
              </a:rPr>
              <a:t>R</a:t>
            </a:r>
            <a:r>
              <a:rPr lang="en-US" sz="3500">
                <a:solidFill>
                  <a:srgbClr val="925000"/>
                </a:solidFill>
                <a:latin typeface="Sukar"/>
                <a:ea typeface="Sukar"/>
                <a:cs typeface="Sukar"/>
                <a:sym typeface="Sukar"/>
              </a:rPr>
              <a:t>andom Forest: Registró un leve overfitting debido a la alta dispersión de las aplicaciones de</a:t>
            </a:r>
            <a:r>
              <a:rPr lang="en-US" sz="3500">
                <a:solidFill>
                  <a:srgbClr val="925000"/>
                </a:solidFill>
                <a:latin typeface="Sukar"/>
                <a:ea typeface="Sukar"/>
                <a:cs typeface="Sukar"/>
                <a:sym typeface="Sukar"/>
              </a:rPr>
              <a:t> nicho.</a:t>
            </a:r>
          </a:p>
          <a:p>
            <a:pPr algn="ctr">
              <a:lnSpc>
                <a:spcPts val="4270"/>
              </a:lnSpc>
            </a:pPr>
            <a:r>
              <a:rPr lang="en-US" sz="3500">
                <a:solidFill>
                  <a:srgbClr val="925000"/>
                </a:solidFill>
                <a:latin typeface="Sukar"/>
                <a:ea typeface="Sukar"/>
                <a:cs typeface="Sukar"/>
                <a:sym typeface="Sukar"/>
              </a:rPr>
              <a:t>Mejor score: 0.69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35724" y="8559800"/>
            <a:ext cx="8901189" cy="11664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sz="3200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Más complejo no siempre es mejor; el modelo simple generalizó de forma óptima.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846996">
            <a:off x="-957053" y="-1071145"/>
            <a:ext cx="2399729" cy="3183720"/>
          </a:xfrm>
          <a:custGeom>
            <a:avLst/>
            <a:gdLst/>
            <a:ahLst/>
            <a:cxnLst/>
            <a:rect r="r" b="b" t="t" l="l"/>
            <a:pathLst>
              <a:path h="3183720" w="2399729">
                <a:moveTo>
                  <a:pt x="0" y="0"/>
                </a:moveTo>
                <a:lnTo>
                  <a:pt x="2399729" y="0"/>
                </a:lnTo>
                <a:lnTo>
                  <a:pt x="2399729" y="3183720"/>
                </a:lnTo>
                <a:lnTo>
                  <a:pt x="0" y="31837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3783878">
            <a:off x="11121286" y="1643093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526217">
            <a:off x="16530916" y="8023663"/>
            <a:ext cx="1456769" cy="1374660"/>
          </a:xfrm>
          <a:custGeom>
            <a:avLst/>
            <a:gdLst/>
            <a:ahLst/>
            <a:cxnLst/>
            <a:rect r="r" b="b" t="t" l="l"/>
            <a:pathLst>
              <a:path h="1374660" w="1456769">
                <a:moveTo>
                  <a:pt x="0" y="0"/>
                </a:moveTo>
                <a:lnTo>
                  <a:pt x="1456768" y="0"/>
                </a:lnTo>
                <a:lnTo>
                  <a:pt x="1456768" y="1374660"/>
                </a:lnTo>
                <a:lnTo>
                  <a:pt x="0" y="137466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2526217">
            <a:off x="7428821" y="8940779"/>
            <a:ext cx="2246425" cy="2119809"/>
          </a:xfrm>
          <a:custGeom>
            <a:avLst/>
            <a:gdLst/>
            <a:ahLst/>
            <a:cxnLst/>
            <a:rect r="r" b="b" t="t" l="l"/>
            <a:pathLst>
              <a:path h="2119809" w="2246425">
                <a:moveTo>
                  <a:pt x="0" y="0"/>
                </a:moveTo>
                <a:lnTo>
                  <a:pt x="2246425" y="0"/>
                </a:lnTo>
                <a:lnTo>
                  <a:pt x="2246425" y="2119809"/>
                </a:lnTo>
                <a:lnTo>
                  <a:pt x="0" y="211980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526217">
            <a:off x="15439516" y="182098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7" id="7">
            <a:hlinkClick action="ppaction://media"/>
          </p:cNvPr>
          <p:cNvPicPr>
            <a:picLocks noChangeAspect="true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6"/>
          <a:srcRect l="853" t="0" r="853" b="0"/>
          <a:stretch>
            <a:fillRect/>
          </a:stretch>
        </p:blipFill>
        <p:spPr>
          <a:xfrm flipH="false" flipV="false" rot="0">
            <a:off x="7008047" y="1483010"/>
            <a:ext cx="10985622" cy="8335546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2094875" y="247075"/>
            <a:ext cx="13184864" cy="9220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999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Dashboard Interactivo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242811" y="2424656"/>
            <a:ext cx="6542862" cy="2700418"/>
          </a:xfrm>
          <a:custGeom>
            <a:avLst/>
            <a:gdLst/>
            <a:ahLst/>
            <a:cxnLst/>
            <a:rect r="r" b="b" t="t" l="l"/>
            <a:pathLst>
              <a:path h="2700418" w="6542862">
                <a:moveTo>
                  <a:pt x="0" y="0"/>
                </a:moveTo>
                <a:lnTo>
                  <a:pt x="6542862" y="0"/>
                </a:lnTo>
                <a:lnTo>
                  <a:pt x="6542862" y="2700418"/>
                </a:lnTo>
                <a:lnTo>
                  <a:pt x="0" y="27004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242811" y="6380598"/>
            <a:ext cx="6542862" cy="2700418"/>
          </a:xfrm>
          <a:custGeom>
            <a:avLst/>
            <a:gdLst/>
            <a:ahLst/>
            <a:cxnLst/>
            <a:rect r="r" b="b" t="t" l="l"/>
            <a:pathLst>
              <a:path h="2700418" w="6542862">
                <a:moveTo>
                  <a:pt x="0" y="0"/>
                </a:moveTo>
                <a:lnTo>
                  <a:pt x="6542862" y="0"/>
                </a:lnTo>
                <a:lnTo>
                  <a:pt x="6542862" y="2700418"/>
                </a:lnTo>
                <a:lnTo>
                  <a:pt x="0" y="27004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242811" y="4402498"/>
            <a:ext cx="6542862" cy="2700418"/>
          </a:xfrm>
          <a:custGeom>
            <a:avLst/>
            <a:gdLst/>
            <a:ahLst/>
            <a:cxnLst/>
            <a:rect r="r" b="b" t="t" l="l"/>
            <a:pathLst>
              <a:path h="2700418" w="6542862">
                <a:moveTo>
                  <a:pt x="0" y="0"/>
                </a:moveTo>
                <a:lnTo>
                  <a:pt x="6542862" y="0"/>
                </a:lnTo>
                <a:lnTo>
                  <a:pt x="6542862" y="2700418"/>
                </a:lnTo>
                <a:lnTo>
                  <a:pt x="0" y="2700418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61604" y="2639938"/>
            <a:ext cx="6105276" cy="61493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925000"/>
                </a:solidFill>
                <a:latin typeface="Sukar"/>
                <a:ea typeface="Sukar"/>
                <a:cs typeface="Sukar"/>
                <a:sym typeface="Sukar"/>
              </a:rPr>
              <a:t>• Interfaz web construida completamente en **Dash/Plotly**.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925000"/>
                </a:solidFill>
                <a:latin typeface="Sukar"/>
                <a:ea typeface="Sukar"/>
                <a:cs typeface="Sukar"/>
                <a:sym typeface="Sukar"/>
              </a:rPr>
              <a:t>• Permite filtrado interactivo por clasificación de contenidos.</a:t>
            </a:r>
          </a:p>
          <a:p>
            <a:pPr algn="l">
              <a:lnSpc>
                <a:spcPts val="5460"/>
              </a:lnSpc>
              <a:spcBef>
                <a:spcPct val="0"/>
              </a:spcBef>
            </a:pPr>
            <a:r>
              <a:rPr lang="en-US" sz="3900">
                <a:solidFill>
                  <a:srgbClr val="925000"/>
                </a:solidFill>
                <a:latin typeface="Sukar"/>
                <a:ea typeface="Sukar"/>
                <a:cs typeface="Sukar"/>
                <a:sym typeface="Sukar"/>
              </a:rPr>
              <a:t>• Análisis integrado de monetización y volumen de descargas.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</p:childTnLst>
        </p:cTn>
      </p:par>
    </p:tnLst>
  </p:timing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168799">
            <a:off x="16706489" y="1355462"/>
            <a:ext cx="1233161" cy="1163656"/>
          </a:xfrm>
          <a:custGeom>
            <a:avLst/>
            <a:gdLst/>
            <a:ahLst/>
            <a:cxnLst/>
            <a:rect r="r" b="b" t="t" l="l"/>
            <a:pathLst>
              <a:path h="1163656" w="1233161">
                <a:moveTo>
                  <a:pt x="0" y="0"/>
                </a:moveTo>
                <a:lnTo>
                  <a:pt x="1233161" y="0"/>
                </a:lnTo>
                <a:lnTo>
                  <a:pt x="1233161" y="1163656"/>
                </a:lnTo>
                <a:lnTo>
                  <a:pt x="0" y="116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526217">
            <a:off x="15789759" y="8011161"/>
            <a:ext cx="1404298" cy="1325147"/>
          </a:xfrm>
          <a:custGeom>
            <a:avLst/>
            <a:gdLst/>
            <a:ahLst/>
            <a:cxnLst/>
            <a:rect r="r" b="b" t="t" l="l"/>
            <a:pathLst>
              <a:path h="1325147" w="1404298">
                <a:moveTo>
                  <a:pt x="0" y="0"/>
                </a:moveTo>
                <a:lnTo>
                  <a:pt x="1404298" y="0"/>
                </a:lnTo>
                <a:lnTo>
                  <a:pt x="1404298" y="1325146"/>
                </a:lnTo>
                <a:lnTo>
                  <a:pt x="0" y="13251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526217">
            <a:off x="967707" y="8718376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68799">
            <a:off x="-422486" y="-307267"/>
            <a:ext cx="1233161" cy="1163656"/>
          </a:xfrm>
          <a:custGeom>
            <a:avLst/>
            <a:gdLst/>
            <a:ahLst/>
            <a:cxnLst/>
            <a:rect r="r" b="b" t="t" l="l"/>
            <a:pathLst>
              <a:path h="1163656" w="1233161">
                <a:moveTo>
                  <a:pt x="0" y="0"/>
                </a:moveTo>
                <a:lnTo>
                  <a:pt x="1233161" y="0"/>
                </a:lnTo>
                <a:lnTo>
                  <a:pt x="1233161" y="1163656"/>
                </a:lnTo>
                <a:lnTo>
                  <a:pt x="0" y="11636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54730">
            <a:off x="216033" y="9233624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1120371">
            <a:off x="14782440" y="9143990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5" y="0"/>
                </a:lnTo>
                <a:lnTo>
                  <a:pt x="853015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177872" y="562928"/>
            <a:ext cx="15615530" cy="922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39"/>
              </a:lnSpc>
            </a:pPr>
            <a:r>
              <a:rPr lang="en-US" sz="5999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Hallazgos, conclusiones y recomendaciones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760014">
            <a:off x="15274766" y="3117862"/>
            <a:ext cx="3037270" cy="4277846"/>
          </a:xfrm>
          <a:custGeom>
            <a:avLst/>
            <a:gdLst/>
            <a:ahLst/>
            <a:cxnLst/>
            <a:rect r="r" b="b" t="t" l="l"/>
            <a:pathLst>
              <a:path h="4277846" w="3037270">
                <a:moveTo>
                  <a:pt x="0" y="0"/>
                </a:moveTo>
                <a:lnTo>
                  <a:pt x="3037271" y="0"/>
                </a:lnTo>
                <a:lnTo>
                  <a:pt x="3037271" y="4277846"/>
                </a:lnTo>
                <a:lnTo>
                  <a:pt x="0" y="427784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84969" y="1937290"/>
            <a:ext cx="7041597" cy="2906259"/>
          </a:xfrm>
          <a:custGeom>
            <a:avLst/>
            <a:gdLst/>
            <a:ahLst/>
            <a:cxnLst/>
            <a:rect r="r" b="b" t="t" l="l"/>
            <a:pathLst>
              <a:path h="2906259" w="7041597">
                <a:moveTo>
                  <a:pt x="0" y="0"/>
                </a:moveTo>
                <a:lnTo>
                  <a:pt x="7041597" y="0"/>
                </a:lnTo>
                <a:lnTo>
                  <a:pt x="7041597" y="2906259"/>
                </a:lnTo>
                <a:lnTo>
                  <a:pt x="0" y="2906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75737" y="2365848"/>
            <a:ext cx="6660060" cy="18681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BC8362"/>
                </a:solidFill>
                <a:latin typeface="Funtastic"/>
                <a:ea typeface="Funtastic"/>
                <a:cs typeface="Funtastic"/>
                <a:sym typeface="Funtastic"/>
              </a:rPr>
              <a:t>Actualizaciones Críticas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BC8362"/>
                </a:solidFill>
                <a:latin typeface="Sukar Bold"/>
                <a:ea typeface="Sukar Bold"/>
                <a:cs typeface="Sukar Bold"/>
                <a:sym typeface="Sukar Bold"/>
              </a:rPr>
              <a:t>La variable de tiempo sin actualizar influye de manera inversa en la retención del rating.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855248" y="1937290"/>
            <a:ext cx="7041597" cy="2906259"/>
          </a:xfrm>
          <a:custGeom>
            <a:avLst/>
            <a:gdLst/>
            <a:ahLst/>
            <a:cxnLst/>
            <a:rect r="r" b="b" t="t" l="l"/>
            <a:pathLst>
              <a:path h="2906259" w="7041597">
                <a:moveTo>
                  <a:pt x="0" y="0"/>
                </a:moveTo>
                <a:lnTo>
                  <a:pt x="7041597" y="0"/>
                </a:lnTo>
                <a:lnTo>
                  <a:pt x="7041597" y="2906259"/>
                </a:lnTo>
                <a:lnTo>
                  <a:pt x="0" y="290625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8046017" y="2127723"/>
            <a:ext cx="6660060" cy="23444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>
                <a:solidFill>
                  <a:srgbClr val="BC8362"/>
                </a:solidFill>
                <a:latin typeface="Funtastic"/>
                <a:ea typeface="Funtastic"/>
                <a:cs typeface="Funtastic"/>
                <a:sym typeface="Funtastic"/>
              </a:rPr>
              <a:t>Mone</a:t>
            </a:r>
            <a:r>
              <a:rPr lang="en-US" sz="4700">
                <a:solidFill>
                  <a:srgbClr val="BC8362"/>
                </a:solidFill>
                <a:latin typeface="Funtastic"/>
                <a:ea typeface="Funtastic"/>
                <a:cs typeface="Funtastic"/>
                <a:sym typeface="Funtastic"/>
              </a:rPr>
              <a:t>tización Híbrida</a:t>
            </a:r>
          </a:p>
          <a:p>
            <a:pPr algn="ctr">
              <a:lnSpc>
                <a:spcPts val="3780"/>
              </a:lnSpc>
              <a:spcBef>
                <a:spcPct val="0"/>
              </a:spcBef>
            </a:pPr>
            <a:r>
              <a:rPr lang="en-US" b="true" sz="2700">
                <a:solidFill>
                  <a:srgbClr val="BC8362"/>
                </a:solidFill>
                <a:latin typeface="Sukar Bold"/>
                <a:ea typeface="Sukar Bold"/>
                <a:cs typeface="Sukar Bold"/>
                <a:sym typeface="Sukar Bold"/>
              </a:rPr>
              <a:t>El mercado gratuito domina el volumen, pero los modelos de pago aseguran mayor estabilidad de reseñas.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684969" y="7420632"/>
            <a:ext cx="6072303" cy="2506205"/>
          </a:xfrm>
          <a:custGeom>
            <a:avLst/>
            <a:gdLst/>
            <a:ahLst/>
            <a:cxnLst/>
            <a:rect r="r" b="b" t="t" l="l"/>
            <a:pathLst>
              <a:path h="2506205" w="6072303">
                <a:moveTo>
                  <a:pt x="0" y="0"/>
                </a:moveTo>
                <a:lnTo>
                  <a:pt x="6072302" y="0"/>
                </a:lnTo>
                <a:lnTo>
                  <a:pt x="6072302" y="2506204"/>
                </a:lnTo>
                <a:lnTo>
                  <a:pt x="0" y="2506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6107849" y="7420632"/>
            <a:ext cx="6072303" cy="2506205"/>
          </a:xfrm>
          <a:custGeom>
            <a:avLst/>
            <a:gdLst/>
            <a:ahLst/>
            <a:cxnLst/>
            <a:rect r="r" b="b" t="t" l="l"/>
            <a:pathLst>
              <a:path h="2506205" w="6072303">
                <a:moveTo>
                  <a:pt x="0" y="0"/>
                </a:moveTo>
                <a:lnTo>
                  <a:pt x="6072302" y="0"/>
                </a:lnTo>
                <a:lnTo>
                  <a:pt x="6072302" y="2506204"/>
                </a:lnTo>
                <a:lnTo>
                  <a:pt x="0" y="2506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530729" y="7420632"/>
            <a:ext cx="6072303" cy="2506205"/>
          </a:xfrm>
          <a:custGeom>
            <a:avLst/>
            <a:gdLst/>
            <a:ahLst/>
            <a:cxnLst/>
            <a:rect r="r" b="b" t="t" l="l"/>
            <a:pathLst>
              <a:path h="2506205" w="6072303">
                <a:moveTo>
                  <a:pt x="0" y="0"/>
                </a:moveTo>
                <a:lnTo>
                  <a:pt x="6072302" y="0"/>
                </a:lnTo>
                <a:lnTo>
                  <a:pt x="6072302" y="2506204"/>
                </a:lnTo>
                <a:lnTo>
                  <a:pt x="0" y="25062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819418" y="7846366"/>
            <a:ext cx="16649164" cy="1652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BC8362"/>
                </a:solidFill>
                <a:latin typeface="Sukar Bold"/>
                <a:ea typeface="Sukar Bold"/>
                <a:cs typeface="Sukar Bold"/>
                <a:sym typeface="Sukar Bold"/>
              </a:rPr>
              <a:t>Para desarrolladores: Entender qué características contribuyen a una alta calificación puede guiar el diseño y la mejora de las aplicaciones.</a:t>
            </a:r>
          </a:p>
          <a:p>
            <a:pPr algn="ctr">
              <a:lnSpc>
                <a:spcPts val="4480"/>
              </a:lnSpc>
              <a:spcBef>
                <a:spcPct val="0"/>
              </a:spcBef>
            </a:pPr>
            <a:r>
              <a:rPr lang="en-US" b="true" sz="3200">
                <a:solidFill>
                  <a:srgbClr val="BC8362"/>
                </a:solidFill>
                <a:latin typeface="Sukar Bold"/>
                <a:ea typeface="Sukar Bold"/>
                <a:cs typeface="Sukar Bold"/>
                <a:sym typeface="Sukar Bold"/>
              </a:rPr>
              <a:t>Para la plataforma: Se pueden usar estos modelos para destacar aplicaciones de buena calidad.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84969" y="5096554"/>
            <a:ext cx="14211876" cy="2056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320"/>
              </a:lnSpc>
              <a:spcBef>
                <a:spcPct val="0"/>
              </a:spcBef>
            </a:pPr>
            <a:r>
              <a:rPr lang="en-US" sz="3800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Efectivamente, podemos predecir la calidad de una aplicación utilizando las características de sus metadatos y herramientas de Machine Learning.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3783878">
            <a:off x="16832793" y="441609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2526217">
            <a:off x="9994312" y="87352"/>
            <a:ext cx="1404298" cy="1325147"/>
          </a:xfrm>
          <a:custGeom>
            <a:avLst/>
            <a:gdLst/>
            <a:ahLst/>
            <a:cxnLst/>
            <a:rect r="r" b="b" t="t" l="l"/>
            <a:pathLst>
              <a:path h="1325147" w="1404298">
                <a:moveTo>
                  <a:pt x="0" y="0"/>
                </a:moveTo>
                <a:lnTo>
                  <a:pt x="1404298" y="0"/>
                </a:lnTo>
                <a:lnTo>
                  <a:pt x="1404298" y="1325147"/>
                </a:lnTo>
                <a:lnTo>
                  <a:pt x="0" y="13251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25490" y="7878941"/>
            <a:ext cx="3848696" cy="1588462"/>
          </a:xfrm>
          <a:custGeom>
            <a:avLst/>
            <a:gdLst/>
            <a:ahLst/>
            <a:cxnLst/>
            <a:rect r="r" b="b" t="t" l="l"/>
            <a:pathLst>
              <a:path h="1588462" w="3848696">
                <a:moveTo>
                  <a:pt x="0" y="0"/>
                </a:moveTo>
                <a:lnTo>
                  <a:pt x="3848697" y="0"/>
                </a:lnTo>
                <a:lnTo>
                  <a:pt x="3848697" y="1588462"/>
                </a:lnTo>
                <a:lnTo>
                  <a:pt x="0" y="158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3022968">
            <a:off x="155487" y="9064935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5652012" y="6447426"/>
            <a:ext cx="2413055" cy="3345657"/>
          </a:xfrm>
          <a:custGeom>
            <a:avLst/>
            <a:gdLst/>
            <a:ahLst/>
            <a:cxnLst/>
            <a:rect r="r" b="b" t="t" l="l"/>
            <a:pathLst>
              <a:path h="3345657" w="2413055">
                <a:moveTo>
                  <a:pt x="0" y="0"/>
                </a:moveTo>
                <a:lnTo>
                  <a:pt x="2413054" y="0"/>
                </a:lnTo>
                <a:lnTo>
                  <a:pt x="2413054" y="3345656"/>
                </a:lnTo>
                <a:lnTo>
                  <a:pt x="0" y="3345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437899">
            <a:off x="11366111" y="8826473"/>
            <a:ext cx="1869879" cy="1764486"/>
          </a:xfrm>
          <a:custGeom>
            <a:avLst/>
            <a:gdLst/>
            <a:ahLst/>
            <a:cxnLst/>
            <a:rect r="r" b="b" t="t" l="l"/>
            <a:pathLst>
              <a:path h="1764486" w="1869879">
                <a:moveTo>
                  <a:pt x="0" y="0"/>
                </a:moveTo>
                <a:lnTo>
                  <a:pt x="1869879" y="0"/>
                </a:lnTo>
                <a:lnTo>
                  <a:pt x="1869879" y="1764486"/>
                </a:lnTo>
                <a:lnTo>
                  <a:pt x="0" y="1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280273">
            <a:off x="12288897" y="556097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5" y="0"/>
                </a:lnTo>
                <a:lnTo>
                  <a:pt x="853015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3783878">
            <a:off x="17217703" y="1835994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6"/>
                </a:lnTo>
                <a:lnTo>
                  <a:pt x="0" y="8049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3270670">
            <a:off x="15978193" y="3334673"/>
            <a:ext cx="1869879" cy="1764486"/>
          </a:xfrm>
          <a:custGeom>
            <a:avLst/>
            <a:gdLst/>
            <a:ahLst/>
            <a:cxnLst/>
            <a:rect r="r" b="b" t="t" l="l"/>
            <a:pathLst>
              <a:path h="1764486" w="1869879">
                <a:moveTo>
                  <a:pt x="0" y="0"/>
                </a:moveTo>
                <a:lnTo>
                  <a:pt x="1869879" y="0"/>
                </a:lnTo>
                <a:lnTo>
                  <a:pt x="1869879" y="1764486"/>
                </a:lnTo>
                <a:lnTo>
                  <a:pt x="0" y="176448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85338" y="2037554"/>
            <a:ext cx="11712272" cy="76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4791" indent="-502396" lvl="1">
              <a:lnSpc>
                <a:spcPts val="5258"/>
              </a:lnSpc>
              <a:buFont typeface="Arial"/>
              <a:buChar char="•"/>
            </a:pPr>
            <a:r>
              <a:rPr lang="en-US" sz="4653">
                <a:solidFill>
                  <a:srgbClr val="616164"/>
                </a:solidFill>
                <a:latin typeface="Funtastic"/>
                <a:ea typeface="Funtastic"/>
                <a:cs typeface="Funtastic"/>
                <a:sym typeface="Funtastic"/>
              </a:rPr>
              <a:t>Github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85338" y="7026276"/>
            <a:ext cx="11712272" cy="7634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004791" indent="-502396" lvl="1">
              <a:lnSpc>
                <a:spcPts val="5258"/>
              </a:lnSpc>
              <a:buFont typeface="Arial"/>
              <a:buChar char="•"/>
            </a:pPr>
            <a:r>
              <a:rPr lang="en-US" sz="4653">
                <a:solidFill>
                  <a:srgbClr val="616164"/>
                </a:solidFill>
                <a:latin typeface="Funtastic"/>
                <a:ea typeface="Funtastic"/>
                <a:cs typeface="Funtastic"/>
                <a:sym typeface="Funtastic"/>
              </a:rPr>
              <a:t>Comunicación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581994" y="3306177"/>
            <a:ext cx="6738712" cy="2781250"/>
          </a:xfrm>
          <a:custGeom>
            <a:avLst/>
            <a:gdLst/>
            <a:ahLst/>
            <a:cxnLst/>
            <a:rect r="r" b="b" t="t" l="l"/>
            <a:pathLst>
              <a:path h="2781250" w="6738712">
                <a:moveTo>
                  <a:pt x="0" y="0"/>
                </a:moveTo>
                <a:lnTo>
                  <a:pt x="6738712" y="0"/>
                </a:lnTo>
                <a:lnTo>
                  <a:pt x="6738712" y="2781250"/>
                </a:lnTo>
                <a:lnTo>
                  <a:pt x="0" y="278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81994" y="2943481"/>
            <a:ext cx="6738712" cy="2781250"/>
          </a:xfrm>
          <a:custGeom>
            <a:avLst/>
            <a:gdLst/>
            <a:ahLst/>
            <a:cxnLst/>
            <a:rect r="r" b="b" t="t" l="l"/>
            <a:pathLst>
              <a:path h="2781250" w="6738712">
                <a:moveTo>
                  <a:pt x="0" y="0"/>
                </a:moveTo>
                <a:lnTo>
                  <a:pt x="6738712" y="0"/>
                </a:lnTo>
                <a:lnTo>
                  <a:pt x="6738712" y="2781250"/>
                </a:lnTo>
                <a:lnTo>
                  <a:pt x="0" y="278125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783851" y="7895046"/>
            <a:ext cx="3848696" cy="1588462"/>
          </a:xfrm>
          <a:custGeom>
            <a:avLst/>
            <a:gdLst/>
            <a:ahLst/>
            <a:cxnLst/>
            <a:rect r="r" b="b" t="t" l="l"/>
            <a:pathLst>
              <a:path h="1588462" w="3848696">
                <a:moveTo>
                  <a:pt x="0" y="0"/>
                </a:moveTo>
                <a:lnTo>
                  <a:pt x="3848697" y="0"/>
                </a:lnTo>
                <a:lnTo>
                  <a:pt x="3848697" y="1588462"/>
                </a:lnTo>
                <a:lnTo>
                  <a:pt x="0" y="158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1248923" y="7895046"/>
            <a:ext cx="3848696" cy="1588462"/>
          </a:xfrm>
          <a:custGeom>
            <a:avLst/>
            <a:gdLst/>
            <a:ahLst/>
            <a:cxnLst/>
            <a:rect r="r" b="b" t="t" l="l"/>
            <a:pathLst>
              <a:path h="1588462" w="3848696">
                <a:moveTo>
                  <a:pt x="0" y="0"/>
                </a:moveTo>
                <a:lnTo>
                  <a:pt x="3848696" y="0"/>
                </a:lnTo>
                <a:lnTo>
                  <a:pt x="3848696" y="1588462"/>
                </a:lnTo>
                <a:lnTo>
                  <a:pt x="0" y="158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581994" y="272001"/>
            <a:ext cx="17946749" cy="1072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929"/>
              </a:lnSpc>
            </a:pPr>
            <a:r>
              <a:rPr lang="en-US" sz="6999">
                <a:solidFill>
                  <a:srgbClr val="925000"/>
                </a:solidFill>
                <a:latin typeface="Funtastic"/>
                <a:ea typeface="Funtastic"/>
                <a:cs typeface="Funtastic"/>
                <a:sym typeface="Funtastic"/>
              </a:rPr>
              <a:t>Trabajo colaborativo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381854"/>
            <a:ext cx="6060565" cy="2081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9"/>
              </a:lnSpc>
            </a:pPr>
            <a:r>
              <a:rPr lang="en-US" sz="4100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Utilizamos github para poder registrar nuestro avance y cambios a travéz del proyecto</a:t>
            </a: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6617844" y="7878941"/>
            <a:ext cx="3848696" cy="1588462"/>
          </a:xfrm>
          <a:custGeom>
            <a:avLst/>
            <a:gdLst/>
            <a:ahLst/>
            <a:cxnLst/>
            <a:rect r="r" b="b" t="t" l="l"/>
            <a:pathLst>
              <a:path h="1588462" w="3848696">
                <a:moveTo>
                  <a:pt x="0" y="0"/>
                </a:moveTo>
                <a:lnTo>
                  <a:pt x="3848696" y="0"/>
                </a:lnTo>
                <a:lnTo>
                  <a:pt x="3848696" y="1588462"/>
                </a:lnTo>
                <a:lnTo>
                  <a:pt x="0" y="158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9144000" y="7895046"/>
            <a:ext cx="3848696" cy="1588462"/>
          </a:xfrm>
          <a:custGeom>
            <a:avLst/>
            <a:gdLst/>
            <a:ahLst/>
            <a:cxnLst/>
            <a:rect r="r" b="b" t="t" l="l"/>
            <a:pathLst>
              <a:path h="1588462" w="3848696">
                <a:moveTo>
                  <a:pt x="0" y="0"/>
                </a:moveTo>
                <a:lnTo>
                  <a:pt x="3848696" y="0"/>
                </a:lnTo>
                <a:lnTo>
                  <a:pt x="3848696" y="1588462"/>
                </a:lnTo>
                <a:lnTo>
                  <a:pt x="0" y="15884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028700" y="8205979"/>
            <a:ext cx="14336515" cy="1052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58"/>
              </a:lnSpc>
            </a:pPr>
            <a:r>
              <a:rPr lang="en-US" sz="4099">
                <a:solidFill>
                  <a:srgbClr val="A66B49"/>
                </a:solidFill>
                <a:latin typeface="Sukar"/>
                <a:ea typeface="Sukar"/>
                <a:cs typeface="Sukar"/>
                <a:sym typeface="Sukar"/>
              </a:rPr>
              <a:t>La mayor comunicación fue presencial, pero también se utilizarón apps como Discord, Correo, WhatsApp, etc.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6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323931" y="1571678"/>
            <a:ext cx="6653769" cy="7944799"/>
          </a:xfrm>
          <a:custGeom>
            <a:avLst/>
            <a:gdLst/>
            <a:ahLst/>
            <a:cxnLst/>
            <a:rect r="r" b="b" t="t" l="l"/>
            <a:pathLst>
              <a:path h="7944799" w="6653769">
                <a:moveTo>
                  <a:pt x="0" y="0"/>
                </a:moveTo>
                <a:lnTo>
                  <a:pt x="6653769" y="0"/>
                </a:lnTo>
                <a:lnTo>
                  <a:pt x="6653769" y="7944799"/>
                </a:lnTo>
                <a:lnTo>
                  <a:pt x="0" y="79447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87137" y="3845134"/>
            <a:ext cx="5797692" cy="1457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0199"/>
              </a:lnSpc>
            </a:pPr>
            <a:r>
              <a:rPr lang="en-US" sz="8499">
                <a:solidFill>
                  <a:srgbClr val="403027"/>
                </a:solidFill>
                <a:latin typeface="Funtastic"/>
                <a:ea typeface="Funtastic"/>
                <a:cs typeface="Funtastic"/>
                <a:sym typeface="Funtastic"/>
              </a:rPr>
              <a:t>GRACIAS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3783878">
            <a:off x="13532385" y="528263"/>
            <a:ext cx="1503486" cy="1418744"/>
          </a:xfrm>
          <a:custGeom>
            <a:avLst/>
            <a:gdLst/>
            <a:ahLst/>
            <a:cxnLst/>
            <a:rect r="r" b="b" t="t" l="l"/>
            <a:pathLst>
              <a:path h="1418744" w="1503486">
                <a:moveTo>
                  <a:pt x="0" y="0"/>
                </a:moveTo>
                <a:lnTo>
                  <a:pt x="1503486" y="0"/>
                </a:lnTo>
                <a:lnTo>
                  <a:pt x="1503486" y="1418743"/>
                </a:lnTo>
                <a:lnTo>
                  <a:pt x="0" y="141874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30040">
            <a:off x="15778175" y="3738447"/>
            <a:ext cx="853014" cy="804935"/>
          </a:xfrm>
          <a:custGeom>
            <a:avLst/>
            <a:gdLst/>
            <a:ahLst/>
            <a:cxnLst/>
            <a:rect r="r" b="b" t="t" l="l"/>
            <a:pathLst>
              <a:path h="804935" w="853014">
                <a:moveTo>
                  <a:pt x="0" y="0"/>
                </a:moveTo>
                <a:lnTo>
                  <a:pt x="853014" y="0"/>
                </a:lnTo>
                <a:lnTo>
                  <a:pt x="853014" y="804935"/>
                </a:lnTo>
                <a:lnTo>
                  <a:pt x="0" y="80493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2526217">
            <a:off x="1546597" y="6898890"/>
            <a:ext cx="585575" cy="552570"/>
          </a:xfrm>
          <a:custGeom>
            <a:avLst/>
            <a:gdLst/>
            <a:ahLst/>
            <a:cxnLst/>
            <a:rect r="r" b="b" t="t" l="l"/>
            <a:pathLst>
              <a:path h="552570" w="585575">
                <a:moveTo>
                  <a:pt x="0" y="0"/>
                </a:moveTo>
                <a:lnTo>
                  <a:pt x="585575" y="0"/>
                </a:lnTo>
                <a:lnTo>
                  <a:pt x="585575" y="552570"/>
                </a:lnTo>
                <a:lnTo>
                  <a:pt x="0" y="55257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-2526217">
            <a:off x="2700445" y="8953307"/>
            <a:ext cx="1801398" cy="1699865"/>
          </a:xfrm>
          <a:custGeom>
            <a:avLst/>
            <a:gdLst/>
            <a:ahLst/>
            <a:cxnLst/>
            <a:rect r="r" b="b" t="t" l="l"/>
            <a:pathLst>
              <a:path h="1699865" w="1801398">
                <a:moveTo>
                  <a:pt x="0" y="0"/>
                </a:moveTo>
                <a:lnTo>
                  <a:pt x="1801398" y="0"/>
                </a:lnTo>
                <a:lnTo>
                  <a:pt x="1801398" y="1699865"/>
                </a:lnTo>
                <a:lnTo>
                  <a:pt x="0" y="1699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266433">
            <a:off x="753871" y="945057"/>
            <a:ext cx="1801398" cy="1699865"/>
          </a:xfrm>
          <a:custGeom>
            <a:avLst/>
            <a:gdLst/>
            <a:ahLst/>
            <a:cxnLst/>
            <a:rect r="r" b="b" t="t" l="l"/>
            <a:pathLst>
              <a:path h="1699865" w="1801398">
                <a:moveTo>
                  <a:pt x="0" y="0"/>
                </a:moveTo>
                <a:lnTo>
                  <a:pt x="1801398" y="0"/>
                </a:lnTo>
                <a:lnTo>
                  <a:pt x="1801398" y="1699865"/>
                </a:lnTo>
                <a:lnTo>
                  <a:pt x="0" y="169986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6521" y="8350156"/>
            <a:ext cx="2300786" cy="1936844"/>
          </a:xfrm>
          <a:custGeom>
            <a:avLst/>
            <a:gdLst/>
            <a:ahLst/>
            <a:cxnLst/>
            <a:rect r="r" b="b" t="t" l="l"/>
            <a:pathLst>
              <a:path h="1936844" w="2300786">
                <a:moveTo>
                  <a:pt x="0" y="0"/>
                </a:moveTo>
                <a:lnTo>
                  <a:pt x="2300787" y="0"/>
                </a:lnTo>
                <a:lnTo>
                  <a:pt x="2300787" y="1936844"/>
                </a:lnTo>
                <a:lnTo>
                  <a:pt x="0" y="19368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true" flipV="false" rot="0">
            <a:off x="2587308" y="8437774"/>
            <a:ext cx="2196705" cy="1849226"/>
          </a:xfrm>
          <a:custGeom>
            <a:avLst/>
            <a:gdLst/>
            <a:ahLst/>
            <a:cxnLst/>
            <a:rect r="r" b="b" t="t" l="l"/>
            <a:pathLst>
              <a:path h="1849226" w="2196705">
                <a:moveTo>
                  <a:pt x="2196704" y="0"/>
                </a:moveTo>
                <a:lnTo>
                  <a:pt x="0" y="0"/>
                </a:lnTo>
                <a:lnTo>
                  <a:pt x="0" y="1849226"/>
                </a:lnTo>
                <a:lnTo>
                  <a:pt x="2196704" y="1849226"/>
                </a:lnTo>
                <a:lnTo>
                  <a:pt x="2196704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DAHMMPpYW_I</dc:identifier>
  <dcterms:modified xsi:type="dcterms:W3CDTF">2011-08-01T06:04:30Z</dcterms:modified>
  <cp:revision>1</cp:revision>
  <dc:title>PresentaciónEv3</dc:title>
</cp:coreProperties>
</file>