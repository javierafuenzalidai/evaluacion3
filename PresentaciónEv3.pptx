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Funtastic" charset="1" panose="00000000000000000000"/>
      <p:regular r:id="rId18"/>
    </p:embeddedFont>
    <p:embeddedFont>
      <p:font typeface="Sukar" charset="1" panose="02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2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07827" y="2859348"/>
            <a:ext cx="13026676" cy="4330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91"/>
              </a:lnSpc>
            </a:pPr>
            <a:r>
              <a:rPr lang="en-US" sz="111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DATASET “GOOGLE PLAY STORE APPS”</a:t>
            </a:r>
          </a:p>
          <a:p>
            <a:pPr algn="ctr">
              <a:lnSpc>
                <a:spcPts val="12543"/>
              </a:lnSpc>
            </a:pPr>
            <a:r>
              <a:rPr lang="en-US" sz="111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ACTIVIDAD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2051556">
            <a:off x="-1619647" y="6810969"/>
            <a:ext cx="4537130" cy="5260440"/>
          </a:xfrm>
          <a:custGeom>
            <a:avLst/>
            <a:gdLst/>
            <a:ahLst/>
            <a:cxnLst/>
            <a:rect r="r" b="b" t="t" l="l"/>
            <a:pathLst>
              <a:path h="5260440" w="4537130">
                <a:moveTo>
                  <a:pt x="0" y="0"/>
                </a:moveTo>
                <a:lnTo>
                  <a:pt x="4537130" y="0"/>
                </a:lnTo>
                <a:lnTo>
                  <a:pt x="4537130" y="5260440"/>
                </a:lnTo>
                <a:lnTo>
                  <a:pt x="0" y="52604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479565">
            <a:off x="15478678" y="-1617387"/>
            <a:ext cx="4631200" cy="6144213"/>
          </a:xfrm>
          <a:custGeom>
            <a:avLst/>
            <a:gdLst/>
            <a:ahLst/>
            <a:cxnLst/>
            <a:rect r="r" b="b" t="t" l="l"/>
            <a:pathLst>
              <a:path h="6144213" w="4631200">
                <a:moveTo>
                  <a:pt x="0" y="0"/>
                </a:moveTo>
                <a:lnTo>
                  <a:pt x="4631200" y="0"/>
                </a:lnTo>
                <a:lnTo>
                  <a:pt x="4631200" y="6144213"/>
                </a:lnTo>
                <a:lnTo>
                  <a:pt x="0" y="61442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8418075">
            <a:off x="4737" y="-1807531"/>
            <a:ext cx="3339098" cy="5049675"/>
          </a:xfrm>
          <a:custGeom>
            <a:avLst/>
            <a:gdLst/>
            <a:ahLst/>
            <a:cxnLst/>
            <a:rect r="r" b="b" t="t" l="l"/>
            <a:pathLst>
              <a:path h="5049675" w="3339098">
                <a:moveTo>
                  <a:pt x="0" y="0"/>
                </a:moveTo>
                <a:lnTo>
                  <a:pt x="3339098" y="0"/>
                </a:lnTo>
                <a:lnTo>
                  <a:pt x="3339098" y="5049676"/>
                </a:lnTo>
                <a:lnTo>
                  <a:pt x="0" y="50496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929071">
            <a:off x="15139871" y="7170846"/>
            <a:ext cx="3969827" cy="4962284"/>
          </a:xfrm>
          <a:custGeom>
            <a:avLst/>
            <a:gdLst/>
            <a:ahLst/>
            <a:cxnLst/>
            <a:rect r="r" b="b" t="t" l="l"/>
            <a:pathLst>
              <a:path h="4962284" w="3969827">
                <a:moveTo>
                  <a:pt x="0" y="0"/>
                </a:moveTo>
                <a:lnTo>
                  <a:pt x="3969827" y="0"/>
                </a:lnTo>
                <a:lnTo>
                  <a:pt x="3969827" y="4962284"/>
                </a:lnTo>
                <a:lnTo>
                  <a:pt x="0" y="496228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3783878">
            <a:off x="7950077" y="118878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526217">
            <a:off x="16064644" y="4604709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9" y="0"/>
                </a:lnTo>
                <a:lnTo>
                  <a:pt x="1456769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668515" y="7555140"/>
            <a:ext cx="8950971" cy="4796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Javiera Fuenzalida y Catalina Villegas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337549" y="8082443"/>
            <a:ext cx="9612902" cy="9622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75"/>
              </a:lnSpc>
            </a:pPr>
            <a:r>
              <a:rPr lang="en-US" sz="2500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Profesora Karla Roco Ramírez</a:t>
            </a:r>
          </a:p>
          <a:p>
            <a:pPr algn="ctr">
              <a:lnSpc>
                <a:spcPts val="2475"/>
              </a:lnSpc>
            </a:pPr>
            <a:r>
              <a:rPr lang="en-US" sz="2500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Programación para la ciencia de datos</a:t>
            </a:r>
          </a:p>
          <a:p>
            <a:pPr algn="ctr">
              <a:lnSpc>
                <a:spcPts val="2475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7804" y="6060532"/>
            <a:ext cx="6307872" cy="4131656"/>
          </a:xfrm>
          <a:custGeom>
            <a:avLst/>
            <a:gdLst/>
            <a:ahLst/>
            <a:cxnLst/>
            <a:rect r="r" b="b" t="t" l="l"/>
            <a:pathLst>
              <a:path h="4131656" w="6307872">
                <a:moveTo>
                  <a:pt x="0" y="0"/>
                </a:moveTo>
                <a:lnTo>
                  <a:pt x="6307873" y="0"/>
                </a:lnTo>
                <a:lnTo>
                  <a:pt x="6307873" y="4131656"/>
                </a:lnTo>
                <a:lnTo>
                  <a:pt x="0" y="4131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3783878">
            <a:off x="7999096" y="-360730"/>
            <a:ext cx="1343634" cy="1267902"/>
          </a:xfrm>
          <a:custGeom>
            <a:avLst/>
            <a:gdLst/>
            <a:ahLst/>
            <a:cxnLst/>
            <a:rect r="r" b="b" t="t" l="l"/>
            <a:pathLst>
              <a:path h="1267902" w="1343634">
                <a:moveTo>
                  <a:pt x="0" y="0"/>
                </a:moveTo>
                <a:lnTo>
                  <a:pt x="1343634" y="0"/>
                </a:lnTo>
                <a:lnTo>
                  <a:pt x="1343634" y="1267902"/>
                </a:lnTo>
                <a:lnTo>
                  <a:pt x="0" y="12679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21115">
            <a:off x="15141065" y="9158395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420594" y="8195071"/>
            <a:ext cx="1424058" cy="1343792"/>
          </a:xfrm>
          <a:custGeom>
            <a:avLst/>
            <a:gdLst/>
            <a:ahLst/>
            <a:cxnLst/>
            <a:rect r="r" b="b" t="t" l="l"/>
            <a:pathLst>
              <a:path h="1343792" w="1424058">
                <a:moveTo>
                  <a:pt x="0" y="0"/>
                </a:moveTo>
                <a:lnTo>
                  <a:pt x="1424058" y="0"/>
                </a:lnTo>
                <a:lnTo>
                  <a:pt x="1424058" y="1343792"/>
                </a:lnTo>
                <a:lnTo>
                  <a:pt x="0" y="13437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149804"/>
            <a:ext cx="12467054" cy="1948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Introducción y contextualización al dataset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4950047">
            <a:off x="-97036" y="-136010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2526217">
            <a:off x="15886874" y="90671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1154730">
            <a:off x="13308903" y="1023269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1120371">
            <a:off x="16706116" y="5152076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4113305" y="6136732"/>
            <a:ext cx="13642999" cy="230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Nuestro estudio se basan en los datos obtenidos de Kaggle (el dataset de Google Play Store).</a:t>
            </a:r>
          </a:p>
          <a:p>
            <a:pPr algn="ctr">
              <a:lnSpc>
                <a:spcPts val="3662"/>
              </a:lnSpc>
            </a:pPr>
          </a:p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El dataset original cuenta con 10841 entradas y 13 columnas.</a:t>
            </a:r>
          </a:p>
          <a:p>
            <a:pPr algn="ctr">
              <a:lnSpc>
                <a:spcPts val="3662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2174867" y="3968042"/>
            <a:ext cx="14229283" cy="1394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Hoy explicaremos cómo identificar y predecir la calidad de las aplicaciones móviles en Google Play Store utilizando técnicas de análisis de datos y machine learning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168799">
            <a:off x="16168482" y="682184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5"/>
                </a:lnTo>
                <a:lnTo>
                  <a:pt x="0" y="116365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1278349" y="5154221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26217">
            <a:off x="967707" y="885583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501754" y="7504188"/>
            <a:ext cx="3744315" cy="2274671"/>
          </a:xfrm>
          <a:custGeom>
            <a:avLst/>
            <a:gdLst/>
            <a:ahLst/>
            <a:cxnLst/>
            <a:rect r="r" b="b" t="t" l="l"/>
            <a:pathLst>
              <a:path h="2274671" w="3744315">
                <a:moveTo>
                  <a:pt x="0" y="0"/>
                </a:moveTo>
                <a:lnTo>
                  <a:pt x="3744315" y="0"/>
                </a:lnTo>
                <a:lnTo>
                  <a:pt x="3744315" y="2274672"/>
                </a:lnTo>
                <a:lnTo>
                  <a:pt x="0" y="22746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168799">
            <a:off x="2243330" y="446872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6"/>
                </a:lnTo>
                <a:lnTo>
                  <a:pt x="0" y="1163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1154730">
            <a:off x="9697144" y="114679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1120371">
            <a:off x="7498192" y="885855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88764" y="2225625"/>
            <a:ext cx="16271612" cy="1072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Nuestro objetivo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603070" y="4005346"/>
            <a:ext cx="13642999" cy="1394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¿Qué factores influyen en que una aplicación de Google Play Store sea percibida como de 'buena' o 'mala' calidad? , ¿Podemos predecir la calidad de una aplicación basándonos en sus características?.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2480748" y="6930433"/>
            <a:ext cx="2308951" cy="3168372"/>
          </a:xfrm>
          <a:custGeom>
            <a:avLst/>
            <a:gdLst/>
            <a:ahLst/>
            <a:cxnLst/>
            <a:rect r="r" b="b" t="t" l="l"/>
            <a:pathLst>
              <a:path h="3168372" w="2308951">
                <a:moveTo>
                  <a:pt x="0" y="0"/>
                </a:moveTo>
                <a:lnTo>
                  <a:pt x="2308951" y="0"/>
                </a:lnTo>
                <a:lnTo>
                  <a:pt x="2308951" y="3168372"/>
                </a:lnTo>
                <a:lnTo>
                  <a:pt x="0" y="316837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3783878">
            <a:off x="16832793" y="441609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9994312" y="87352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022968">
            <a:off x="155487" y="9064935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682512" y="5526883"/>
            <a:ext cx="3264163" cy="4525703"/>
          </a:xfrm>
          <a:custGeom>
            <a:avLst/>
            <a:gdLst/>
            <a:ahLst/>
            <a:cxnLst/>
            <a:rect r="r" b="b" t="t" l="l"/>
            <a:pathLst>
              <a:path h="4525703" w="3264163">
                <a:moveTo>
                  <a:pt x="0" y="0"/>
                </a:moveTo>
                <a:lnTo>
                  <a:pt x="3264163" y="0"/>
                </a:lnTo>
                <a:lnTo>
                  <a:pt x="3264163" y="4525703"/>
                </a:lnTo>
                <a:lnTo>
                  <a:pt x="0" y="45257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437899">
            <a:off x="11366111" y="88264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80273">
            <a:off x="12288897" y="55609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783878">
            <a:off x="17217703" y="1835994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3270670">
            <a:off x="15978193" y="33346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483601"/>
            <a:ext cx="17946749" cy="1072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Metodología y datos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338" y="1561419"/>
            <a:ext cx="11712272" cy="76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04791" indent="-502396" lvl="1">
              <a:lnSpc>
                <a:spcPts val="5258"/>
              </a:lnSpc>
              <a:buFont typeface="Arial"/>
              <a:buChar char="•"/>
            </a:pPr>
            <a:r>
              <a:rPr lang="en-US" sz="4653">
                <a:solidFill>
                  <a:srgbClr val="616164"/>
                </a:solidFill>
                <a:latin typeface="Funtastic"/>
                <a:ea typeface="Funtastic"/>
                <a:cs typeface="Funtastic"/>
                <a:sym typeface="Funtastic"/>
              </a:rPr>
              <a:t>Metodología (Ágil)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2886738"/>
            <a:ext cx="13642999" cy="6195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Limpieza de Datos: 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Eliminar </a:t>
            </a: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duplicados 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Manejo de outliers.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Asignar </a:t>
            </a: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valores faltantes.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Transformación de Características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Preprocesamiento para Modelos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Modelamiento 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Optimización de hiperparámetros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3783878">
            <a:off x="16832793" y="441609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9994312" y="87352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7"/>
                </a:lnTo>
                <a:lnTo>
                  <a:pt x="0" y="13251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022968">
            <a:off x="155487" y="9064935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682512" y="5526883"/>
            <a:ext cx="3264163" cy="4525703"/>
          </a:xfrm>
          <a:custGeom>
            <a:avLst/>
            <a:gdLst/>
            <a:ahLst/>
            <a:cxnLst/>
            <a:rect r="r" b="b" t="t" l="l"/>
            <a:pathLst>
              <a:path h="4525703" w="3264163">
                <a:moveTo>
                  <a:pt x="0" y="0"/>
                </a:moveTo>
                <a:lnTo>
                  <a:pt x="3264163" y="0"/>
                </a:lnTo>
                <a:lnTo>
                  <a:pt x="3264163" y="4525703"/>
                </a:lnTo>
                <a:lnTo>
                  <a:pt x="0" y="45257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6437899">
            <a:off x="11366111" y="88264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80273">
            <a:off x="12288897" y="55609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3783878">
            <a:off x="17217703" y="1835994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3270670">
            <a:off x="15978193" y="3334673"/>
            <a:ext cx="1869879" cy="1764486"/>
          </a:xfrm>
          <a:custGeom>
            <a:avLst/>
            <a:gdLst/>
            <a:ahLst/>
            <a:cxnLst/>
            <a:rect r="r" b="b" t="t" l="l"/>
            <a:pathLst>
              <a:path h="1764486" w="1869879">
                <a:moveTo>
                  <a:pt x="0" y="0"/>
                </a:moveTo>
                <a:lnTo>
                  <a:pt x="1869879" y="0"/>
                </a:lnTo>
                <a:lnTo>
                  <a:pt x="1869879" y="1764486"/>
                </a:lnTo>
                <a:lnTo>
                  <a:pt x="0" y="176448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028700" y="483601"/>
            <a:ext cx="17946749" cy="10725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6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Trabajo colaborativo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5338" y="1561419"/>
            <a:ext cx="11712272" cy="7634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04791" indent="-502396" lvl="1">
              <a:lnSpc>
                <a:spcPts val="5258"/>
              </a:lnSpc>
              <a:buFont typeface="Arial"/>
              <a:buChar char="•"/>
            </a:pPr>
            <a:r>
              <a:rPr lang="en-US" sz="4653">
                <a:solidFill>
                  <a:srgbClr val="616164"/>
                </a:solidFill>
                <a:latin typeface="Funtastic"/>
                <a:ea typeface="Funtastic"/>
                <a:cs typeface="Funtastic"/>
                <a:sym typeface="Funtastic"/>
              </a:rPr>
              <a:t>Metodología (Ágil)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2886738"/>
            <a:ext cx="13642999" cy="6195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Limpieza de Datos: 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Eliminar </a:t>
            </a: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duplicados 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Manejo de outliers.</a:t>
            </a:r>
          </a:p>
          <a:p>
            <a:pPr algn="just" marL="885182" indent="-442591" lvl="1">
              <a:lnSpc>
                <a:spcPts val="4058"/>
              </a:lnSpc>
              <a:buFont typeface="Arial"/>
              <a:buChar char="•"/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Asignar </a:t>
            </a: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valores faltantes.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Transformación de Características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Preprocesamiento para Modelos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Modelamiento </a:t>
            </a:r>
          </a:p>
          <a:p>
            <a:pPr algn="just">
              <a:lnSpc>
                <a:spcPts val="4058"/>
              </a:lnSpc>
            </a:pPr>
          </a:p>
          <a:p>
            <a:pPr algn="just">
              <a:lnSpc>
                <a:spcPts val="4058"/>
              </a:lnSpc>
            </a:pPr>
            <a:r>
              <a:rPr lang="en-US" sz="40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Optimización de hiperparámetros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093426" y="283107"/>
            <a:ext cx="1919844" cy="2399805"/>
          </a:xfrm>
          <a:custGeom>
            <a:avLst/>
            <a:gdLst/>
            <a:ahLst/>
            <a:cxnLst/>
            <a:rect r="r" b="b" t="t" l="l"/>
            <a:pathLst>
              <a:path h="2399805" w="1919844">
                <a:moveTo>
                  <a:pt x="0" y="0"/>
                </a:moveTo>
                <a:lnTo>
                  <a:pt x="1919844" y="0"/>
                </a:lnTo>
                <a:lnTo>
                  <a:pt x="1919844" y="2399805"/>
                </a:lnTo>
                <a:lnTo>
                  <a:pt x="0" y="23998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674207" y="-9948"/>
            <a:ext cx="10476931" cy="167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Resultados del proyecto (preprocesamiento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30245" y="2458565"/>
            <a:ext cx="8114848" cy="6799735"/>
          </a:xfrm>
          <a:custGeom>
            <a:avLst/>
            <a:gdLst/>
            <a:ahLst/>
            <a:cxnLst/>
            <a:rect r="r" b="b" t="t" l="l"/>
            <a:pathLst>
              <a:path h="6799735" w="8114848">
                <a:moveTo>
                  <a:pt x="0" y="0"/>
                </a:moveTo>
                <a:lnTo>
                  <a:pt x="8114848" y="0"/>
                </a:lnTo>
                <a:lnTo>
                  <a:pt x="81148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90415" y="2458565"/>
            <a:ext cx="8521448" cy="6799735"/>
          </a:xfrm>
          <a:custGeom>
            <a:avLst/>
            <a:gdLst/>
            <a:ahLst/>
            <a:cxnLst/>
            <a:rect r="r" b="b" t="t" l="l"/>
            <a:pathLst>
              <a:path h="6799735" w="8521448">
                <a:moveTo>
                  <a:pt x="0" y="0"/>
                </a:moveTo>
                <a:lnTo>
                  <a:pt x="8521448" y="0"/>
                </a:lnTo>
                <a:lnTo>
                  <a:pt x="85214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76" t="0" r="-1276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093426" y="283107"/>
            <a:ext cx="1919844" cy="2399805"/>
          </a:xfrm>
          <a:custGeom>
            <a:avLst/>
            <a:gdLst/>
            <a:ahLst/>
            <a:cxnLst/>
            <a:rect r="r" b="b" t="t" l="l"/>
            <a:pathLst>
              <a:path h="2399805" w="1919844">
                <a:moveTo>
                  <a:pt x="0" y="0"/>
                </a:moveTo>
                <a:lnTo>
                  <a:pt x="1919844" y="0"/>
                </a:lnTo>
                <a:lnTo>
                  <a:pt x="1919844" y="2399805"/>
                </a:lnTo>
                <a:lnTo>
                  <a:pt x="0" y="23998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674207" y="-9948"/>
            <a:ext cx="10476931" cy="167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Resultados del proyecto (modelamiento)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30245" y="2458565"/>
            <a:ext cx="8114848" cy="6799735"/>
          </a:xfrm>
          <a:custGeom>
            <a:avLst/>
            <a:gdLst/>
            <a:ahLst/>
            <a:cxnLst/>
            <a:rect r="r" b="b" t="t" l="l"/>
            <a:pathLst>
              <a:path h="6799735" w="8114848">
                <a:moveTo>
                  <a:pt x="0" y="0"/>
                </a:moveTo>
                <a:lnTo>
                  <a:pt x="8114848" y="0"/>
                </a:lnTo>
                <a:lnTo>
                  <a:pt x="81148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90415" y="2458565"/>
            <a:ext cx="8521448" cy="6799735"/>
          </a:xfrm>
          <a:custGeom>
            <a:avLst/>
            <a:gdLst/>
            <a:ahLst/>
            <a:cxnLst/>
            <a:rect r="r" b="b" t="t" l="l"/>
            <a:pathLst>
              <a:path h="6799735" w="8521448">
                <a:moveTo>
                  <a:pt x="0" y="0"/>
                </a:moveTo>
                <a:lnTo>
                  <a:pt x="8521448" y="0"/>
                </a:lnTo>
                <a:lnTo>
                  <a:pt x="85214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76" t="0" r="-1276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093426" y="283107"/>
            <a:ext cx="1919844" cy="2399805"/>
          </a:xfrm>
          <a:custGeom>
            <a:avLst/>
            <a:gdLst/>
            <a:ahLst/>
            <a:cxnLst/>
            <a:rect r="r" b="b" t="t" l="l"/>
            <a:pathLst>
              <a:path h="2399805" w="1919844">
                <a:moveTo>
                  <a:pt x="0" y="0"/>
                </a:moveTo>
                <a:lnTo>
                  <a:pt x="1919844" y="0"/>
                </a:lnTo>
                <a:lnTo>
                  <a:pt x="1919844" y="2399805"/>
                </a:lnTo>
                <a:lnTo>
                  <a:pt x="0" y="23998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674207" y="-9948"/>
            <a:ext cx="10476931" cy="167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Resultados del proyecto (optimizacion)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30245" y="2458565"/>
            <a:ext cx="8114848" cy="6799735"/>
          </a:xfrm>
          <a:custGeom>
            <a:avLst/>
            <a:gdLst/>
            <a:ahLst/>
            <a:cxnLst/>
            <a:rect r="r" b="b" t="t" l="l"/>
            <a:pathLst>
              <a:path h="6799735" w="8114848">
                <a:moveTo>
                  <a:pt x="0" y="0"/>
                </a:moveTo>
                <a:lnTo>
                  <a:pt x="8114848" y="0"/>
                </a:lnTo>
                <a:lnTo>
                  <a:pt x="81148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90415" y="2458565"/>
            <a:ext cx="8521448" cy="6799735"/>
          </a:xfrm>
          <a:custGeom>
            <a:avLst/>
            <a:gdLst/>
            <a:ahLst/>
            <a:cxnLst/>
            <a:rect r="r" b="b" t="t" l="l"/>
            <a:pathLst>
              <a:path h="6799735" w="8521448">
                <a:moveTo>
                  <a:pt x="0" y="0"/>
                </a:moveTo>
                <a:lnTo>
                  <a:pt x="8521448" y="0"/>
                </a:lnTo>
                <a:lnTo>
                  <a:pt x="85214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76" t="0" r="-1276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093426" y="283107"/>
            <a:ext cx="1919844" cy="2399805"/>
          </a:xfrm>
          <a:custGeom>
            <a:avLst/>
            <a:gdLst/>
            <a:ahLst/>
            <a:cxnLst/>
            <a:rect r="r" b="b" t="t" l="l"/>
            <a:pathLst>
              <a:path h="2399805" w="1919844">
                <a:moveTo>
                  <a:pt x="0" y="0"/>
                </a:moveTo>
                <a:lnTo>
                  <a:pt x="1919844" y="0"/>
                </a:lnTo>
                <a:lnTo>
                  <a:pt x="1919844" y="2399805"/>
                </a:lnTo>
                <a:lnTo>
                  <a:pt x="0" y="23998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674207" y="-9948"/>
            <a:ext cx="10476931" cy="167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Resultados del proyecto (clustering)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30245" y="2458565"/>
            <a:ext cx="8114848" cy="6799735"/>
          </a:xfrm>
          <a:custGeom>
            <a:avLst/>
            <a:gdLst/>
            <a:ahLst/>
            <a:cxnLst/>
            <a:rect r="r" b="b" t="t" l="l"/>
            <a:pathLst>
              <a:path h="6799735" w="8114848">
                <a:moveTo>
                  <a:pt x="0" y="0"/>
                </a:moveTo>
                <a:lnTo>
                  <a:pt x="8114848" y="0"/>
                </a:lnTo>
                <a:lnTo>
                  <a:pt x="81148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90415" y="2458565"/>
            <a:ext cx="8521448" cy="6799735"/>
          </a:xfrm>
          <a:custGeom>
            <a:avLst/>
            <a:gdLst/>
            <a:ahLst/>
            <a:cxnLst/>
            <a:rect r="r" b="b" t="t" l="l"/>
            <a:pathLst>
              <a:path h="6799735" w="8521448">
                <a:moveTo>
                  <a:pt x="0" y="0"/>
                </a:moveTo>
                <a:lnTo>
                  <a:pt x="8521448" y="0"/>
                </a:lnTo>
                <a:lnTo>
                  <a:pt x="85214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76" t="0" r="-1276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846996">
            <a:off x="-957053" y="-1071145"/>
            <a:ext cx="2399729" cy="3183720"/>
          </a:xfrm>
          <a:custGeom>
            <a:avLst/>
            <a:gdLst/>
            <a:ahLst/>
            <a:cxnLst/>
            <a:rect r="r" b="b" t="t" l="l"/>
            <a:pathLst>
              <a:path h="3183720" w="2399729">
                <a:moveTo>
                  <a:pt x="0" y="0"/>
                </a:moveTo>
                <a:lnTo>
                  <a:pt x="2399729" y="0"/>
                </a:lnTo>
                <a:lnTo>
                  <a:pt x="2399729" y="3183720"/>
                </a:lnTo>
                <a:lnTo>
                  <a:pt x="0" y="31837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408795">
            <a:off x="15093426" y="283107"/>
            <a:ext cx="1919844" cy="2399805"/>
          </a:xfrm>
          <a:custGeom>
            <a:avLst/>
            <a:gdLst/>
            <a:ahLst/>
            <a:cxnLst/>
            <a:rect r="r" b="b" t="t" l="l"/>
            <a:pathLst>
              <a:path h="2399805" w="1919844">
                <a:moveTo>
                  <a:pt x="0" y="0"/>
                </a:moveTo>
                <a:lnTo>
                  <a:pt x="1919844" y="0"/>
                </a:lnTo>
                <a:lnTo>
                  <a:pt x="1919844" y="2399805"/>
                </a:lnTo>
                <a:lnTo>
                  <a:pt x="0" y="23998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3783878">
            <a:off x="11121286" y="1643093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2526217">
            <a:off x="16530916" y="8023663"/>
            <a:ext cx="1456769" cy="1374660"/>
          </a:xfrm>
          <a:custGeom>
            <a:avLst/>
            <a:gdLst/>
            <a:ahLst/>
            <a:cxnLst/>
            <a:rect r="r" b="b" t="t" l="l"/>
            <a:pathLst>
              <a:path h="1374660" w="1456769">
                <a:moveTo>
                  <a:pt x="0" y="0"/>
                </a:moveTo>
                <a:lnTo>
                  <a:pt x="1456768" y="0"/>
                </a:lnTo>
                <a:lnTo>
                  <a:pt x="1456768" y="1374660"/>
                </a:lnTo>
                <a:lnTo>
                  <a:pt x="0" y="13746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7428821" y="8940779"/>
            <a:ext cx="2246425" cy="2119809"/>
          </a:xfrm>
          <a:custGeom>
            <a:avLst/>
            <a:gdLst/>
            <a:ahLst/>
            <a:cxnLst/>
            <a:rect r="r" b="b" t="t" l="l"/>
            <a:pathLst>
              <a:path h="2119809" w="2246425">
                <a:moveTo>
                  <a:pt x="0" y="0"/>
                </a:moveTo>
                <a:lnTo>
                  <a:pt x="2246425" y="0"/>
                </a:lnTo>
                <a:lnTo>
                  <a:pt x="2246425" y="2119809"/>
                </a:lnTo>
                <a:lnTo>
                  <a:pt x="0" y="21198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808695" y="447582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2551568" y="181141"/>
            <a:ext cx="13184864" cy="2426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dashboard (relevantes y/o graficos de categorias) 3 0 4 KPI y 3 0 4 graficos importantes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30245" y="2458565"/>
            <a:ext cx="8114848" cy="6799735"/>
          </a:xfrm>
          <a:custGeom>
            <a:avLst/>
            <a:gdLst/>
            <a:ahLst/>
            <a:cxnLst/>
            <a:rect r="r" b="b" t="t" l="l"/>
            <a:pathLst>
              <a:path h="6799735" w="8114848">
                <a:moveTo>
                  <a:pt x="0" y="0"/>
                </a:moveTo>
                <a:lnTo>
                  <a:pt x="8114848" y="0"/>
                </a:lnTo>
                <a:lnTo>
                  <a:pt x="81148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890415" y="2458565"/>
            <a:ext cx="8521448" cy="6799735"/>
          </a:xfrm>
          <a:custGeom>
            <a:avLst/>
            <a:gdLst/>
            <a:ahLst/>
            <a:cxnLst/>
            <a:rect r="r" b="b" t="t" l="l"/>
            <a:pathLst>
              <a:path h="6799735" w="8521448">
                <a:moveTo>
                  <a:pt x="0" y="0"/>
                </a:moveTo>
                <a:lnTo>
                  <a:pt x="8521448" y="0"/>
                </a:lnTo>
                <a:lnTo>
                  <a:pt x="8521448" y="6799735"/>
                </a:lnTo>
                <a:lnTo>
                  <a:pt x="0" y="67997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1276" t="0" r="-1276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168799">
            <a:off x="16706489" y="1355462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6"/>
                </a:lnTo>
                <a:lnTo>
                  <a:pt x="0" y="1163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526217">
            <a:off x="15789759" y="8011161"/>
            <a:ext cx="1404298" cy="1325147"/>
          </a:xfrm>
          <a:custGeom>
            <a:avLst/>
            <a:gdLst/>
            <a:ahLst/>
            <a:cxnLst/>
            <a:rect r="r" b="b" t="t" l="l"/>
            <a:pathLst>
              <a:path h="1325147" w="1404298">
                <a:moveTo>
                  <a:pt x="0" y="0"/>
                </a:moveTo>
                <a:lnTo>
                  <a:pt x="1404298" y="0"/>
                </a:lnTo>
                <a:lnTo>
                  <a:pt x="1404298" y="1325146"/>
                </a:lnTo>
                <a:lnTo>
                  <a:pt x="0" y="13251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526217">
            <a:off x="967707" y="8855832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6"/>
                </a:lnTo>
                <a:lnTo>
                  <a:pt x="0" y="8049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168799">
            <a:off x="-422486" y="-307267"/>
            <a:ext cx="1233161" cy="1163656"/>
          </a:xfrm>
          <a:custGeom>
            <a:avLst/>
            <a:gdLst/>
            <a:ahLst/>
            <a:cxnLst/>
            <a:rect r="r" b="b" t="t" l="l"/>
            <a:pathLst>
              <a:path h="1163656" w="1233161">
                <a:moveTo>
                  <a:pt x="0" y="0"/>
                </a:moveTo>
                <a:lnTo>
                  <a:pt x="1233161" y="0"/>
                </a:lnTo>
                <a:lnTo>
                  <a:pt x="1233161" y="1163656"/>
                </a:lnTo>
                <a:lnTo>
                  <a:pt x="0" y="11636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1154730">
            <a:off x="2193422" y="9233624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120371">
            <a:off x="14782440" y="9143990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5" y="0"/>
                </a:lnTo>
                <a:lnTo>
                  <a:pt x="853015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538360"/>
            <a:ext cx="8667679" cy="1674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9"/>
              </a:lnSpc>
            </a:pPr>
            <a:r>
              <a:rPr lang="en-US" sz="5999">
                <a:solidFill>
                  <a:srgbClr val="925000"/>
                </a:solidFill>
                <a:latin typeface="Funtastic"/>
                <a:ea typeface="Funtastic"/>
                <a:cs typeface="Funtastic"/>
                <a:sym typeface="Funtastic"/>
              </a:rPr>
              <a:t>Hallazgos, conclusiones y recomendaciones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-1760014">
            <a:off x="14815090" y="3419650"/>
            <a:ext cx="3465334" cy="4880752"/>
          </a:xfrm>
          <a:custGeom>
            <a:avLst/>
            <a:gdLst/>
            <a:ahLst/>
            <a:cxnLst/>
            <a:rect r="r" b="b" t="t" l="l"/>
            <a:pathLst>
              <a:path h="4880752" w="3465334">
                <a:moveTo>
                  <a:pt x="0" y="0"/>
                </a:moveTo>
                <a:lnTo>
                  <a:pt x="3465334" y="0"/>
                </a:lnTo>
                <a:lnTo>
                  <a:pt x="3465334" y="4880752"/>
                </a:lnTo>
                <a:lnTo>
                  <a:pt x="0" y="48807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69407" y="2947854"/>
            <a:ext cx="13642999" cy="55088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En base a la pregunta hecha en un inicio: podemos predecir la calidad de una aplicación usando las características de los datos, y los modelos de MachineLearning ofrecen herramientas para hacerlo.</a:t>
            </a:r>
          </a:p>
          <a:p>
            <a:pPr algn="ctr">
              <a:lnSpc>
                <a:spcPts val="3662"/>
              </a:lnSpc>
            </a:pPr>
          </a:p>
          <a:p>
            <a:pPr algn="l">
              <a:lnSpc>
                <a:spcPts val="3662"/>
              </a:lnSpc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Implicaciones:</a:t>
            </a:r>
          </a:p>
          <a:p>
            <a:pPr algn="ctr">
              <a:lnSpc>
                <a:spcPts val="3662"/>
              </a:lnSpc>
            </a:pPr>
          </a:p>
          <a:p>
            <a:pPr algn="l" marL="798825" indent="-399412" lvl="1">
              <a:lnSpc>
                <a:spcPts val="3662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Para desarrolladores: Entender qué características contribuyen a una alta calificación puede guiar el diseño y la mejora de las aplicaciones.</a:t>
            </a:r>
          </a:p>
          <a:p>
            <a:pPr algn="l" marL="798825" indent="-399412" lvl="1">
              <a:lnSpc>
                <a:spcPts val="3662"/>
              </a:lnSpc>
              <a:buFont typeface="Arial"/>
              <a:buChar char="•"/>
            </a:pPr>
            <a:r>
              <a:rPr lang="en-US" sz="3699">
                <a:solidFill>
                  <a:srgbClr val="000000"/>
                </a:solidFill>
                <a:latin typeface="Sukar"/>
                <a:ea typeface="Sukar"/>
                <a:cs typeface="Sukar"/>
                <a:sym typeface="Sukar"/>
              </a:rPr>
              <a:t>Para la plataforma: Se pueden usar estos modelos para destacar aplicaciones de buena calidad.</a:t>
            </a:r>
          </a:p>
          <a:p>
            <a:pPr algn="ctr">
              <a:lnSpc>
                <a:spcPts val="3662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6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323931" y="1571678"/>
            <a:ext cx="6653769" cy="7944799"/>
          </a:xfrm>
          <a:custGeom>
            <a:avLst/>
            <a:gdLst/>
            <a:ahLst/>
            <a:cxnLst/>
            <a:rect r="r" b="b" t="t" l="l"/>
            <a:pathLst>
              <a:path h="7944799" w="6653769">
                <a:moveTo>
                  <a:pt x="0" y="0"/>
                </a:moveTo>
                <a:lnTo>
                  <a:pt x="6653769" y="0"/>
                </a:lnTo>
                <a:lnTo>
                  <a:pt x="6653769" y="7944799"/>
                </a:lnTo>
                <a:lnTo>
                  <a:pt x="0" y="794479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887137" y="3845134"/>
            <a:ext cx="5797692" cy="1457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199"/>
              </a:lnSpc>
            </a:pPr>
            <a:r>
              <a:rPr lang="en-US" sz="8499">
                <a:solidFill>
                  <a:srgbClr val="403027"/>
                </a:solidFill>
                <a:latin typeface="Funtastic"/>
                <a:ea typeface="Funtastic"/>
                <a:cs typeface="Funtastic"/>
                <a:sym typeface="Funtastic"/>
              </a:rPr>
              <a:t>GRACIAS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3783878">
            <a:off x="13532385" y="528263"/>
            <a:ext cx="1503486" cy="1418744"/>
          </a:xfrm>
          <a:custGeom>
            <a:avLst/>
            <a:gdLst/>
            <a:ahLst/>
            <a:cxnLst/>
            <a:rect r="r" b="b" t="t" l="l"/>
            <a:pathLst>
              <a:path h="1418744" w="1503486">
                <a:moveTo>
                  <a:pt x="0" y="0"/>
                </a:moveTo>
                <a:lnTo>
                  <a:pt x="1503486" y="0"/>
                </a:lnTo>
                <a:lnTo>
                  <a:pt x="1503486" y="1418743"/>
                </a:lnTo>
                <a:lnTo>
                  <a:pt x="0" y="14187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1130040">
            <a:off x="15778175" y="3738447"/>
            <a:ext cx="853014" cy="804935"/>
          </a:xfrm>
          <a:custGeom>
            <a:avLst/>
            <a:gdLst/>
            <a:ahLst/>
            <a:cxnLst/>
            <a:rect r="r" b="b" t="t" l="l"/>
            <a:pathLst>
              <a:path h="804935" w="853014">
                <a:moveTo>
                  <a:pt x="0" y="0"/>
                </a:moveTo>
                <a:lnTo>
                  <a:pt x="853014" y="0"/>
                </a:lnTo>
                <a:lnTo>
                  <a:pt x="853014" y="804935"/>
                </a:lnTo>
                <a:lnTo>
                  <a:pt x="0" y="8049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2526217">
            <a:off x="1546597" y="6898890"/>
            <a:ext cx="585575" cy="552570"/>
          </a:xfrm>
          <a:custGeom>
            <a:avLst/>
            <a:gdLst/>
            <a:ahLst/>
            <a:cxnLst/>
            <a:rect r="r" b="b" t="t" l="l"/>
            <a:pathLst>
              <a:path h="552570" w="585575">
                <a:moveTo>
                  <a:pt x="0" y="0"/>
                </a:moveTo>
                <a:lnTo>
                  <a:pt x="585575" y="0"/>
                </a:lnTo>
                <a:lnTo>
                  <a:pt x="585575" y="552570"/>
                </a:lnTo>
                <a:lnTo>
                  <a:pt x="0" y="5525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526217">
            <a:off x="2700445" y="8953307"/>
            <a:ext cx="1801398" cy="1699865"/>
          </a:xfrm>
          <a:custGeom>
            <a:avLst/>
            <a:gdLst/>
            <a:ahLst/>
            <a:cxnLst/>
            <a:rect r="r" b="b" t="t" l="l"/>
            <a:pathLst>
              <a:path h="1699865" w="1801398">
                <a:moveTo>
                  <a:pt x="0" y="0"/>
                </a:moveTo>
                <a:lnTo>
                  <a:pt x="1801398" y="0"/>
                </a:lnTo>
                <a:lnTo>
                  <a:pt x="1801398" y="1699865"/>
                </a:lnTo>
                <a:lnTo>
                  <a:pt x="0" y="16998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266433">
            <a:off x="753871" y="945057"/>
            <a:ext cx="1801398" cy="1699865"/>
          </a:xfrm>
          <a:custGeom>
            <a:avLst/>
            <a:gdLst/>
            <a:ahLst/>
            <a:cxnLst/>
            <a:rect r="r" b="b" t="t" l="l"/>
            <a:pathLst>
              <a:path h="1699865" w="1801398">
                <a:moveTo>
                  <a:pt x="0" y="0"/>
                </a:moveTo>
                <a:lnTo>
                  <a:pt x="1801398" y="0"/>
                </a:lnTo>
                <a:lnTo>
                  <a:pt x="1801398" y="1699865"/>
                </a:lnTo>
                <a:lnTo>
                  <a:pt x="0" y="16998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86521" y="8350156"/>
            <a:ext cx="2300786" cy="1936844"/>
          </a:xfrm>
          <a:custGeom>
            <a:avLst/>
            <a:gdLst/>
            <a:ahLst/>
            <a:cxnLst/>
            <a:rect r="r" b="b" t="t" l="l"/>
            <a:pathLst>
              <a:path h="1936844" w="2300786">
                <a:moveTo>
                  <a:pt x="0" y="0"/>
                </a:moveTo>
                <a:lnTo>
                  <a:pt x="2300787" y="0"/>
                </a:lnTo>
                <a:lnTo>
                  <a:pt x="2300787" y="1936844"/>
                </a:lnTo>
                <a:lnTo>
                  <a:pt x="0" y="19368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2587308" y="8437774"/>
            <a:ext cx="2196705" cy="1849226"/>
          </a:xfrm>
          <a:custGeom>
            <a:avLst/>
            <a:gdLst/>
            <a:ahLst/>
            <a:cxnLst/>
            <a:rect r="r" b="b" t="t" l="l"/>
            <a:pathLst>
              <a:path h="1849226" w="2196705">
                <a:moveTo>
                  <a:pt x="2196704" y="0"/>
                </a:moveTo>
                <a:lnTo>
                  <a:pt x="0" y="0"/>
                </a:lnTo>
                <a:lnTo>
                  <a:pt x="0" y="1849226"/>
                </a:lnTo>
                <a:lnTo>
                  <a:pt x="2196704" y="1849226"/>
                </a:lnTo>
                <a:lnTo>
                  <a:pt x="2196704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DAHMMPpYW_I</dc:identifier>
  <dcterms:modified xsi:type="dcterms:W3CDTF">2011-08-01T06:04:30Z</dcterms:modified>
  <cp:revision>1</cp:revision>
  <dc:title>PresentaciónEv3</dc:title>
</cp:coreProperties>
</file>